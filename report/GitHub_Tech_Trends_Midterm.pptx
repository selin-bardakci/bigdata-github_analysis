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12191695" cy="36576"/>
          </a:xfrm>
          <a:prstGeom prst="rect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A78BFA"/>
                </a:solidFill>
                <a:latin typeface="Inter"/>
              </a:rPr>
              <a:t>MIDTERM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18872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E4E8F1"/>
                </a:solidFill>
                <a:latin typeface="Inter"/>
              </a:rPr>
              <a:t>GitHub Technology Trend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2860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5EEAD4"/>
                </a:solidFill>
                <a:latin typeface="Inter"/>
              </a:rPr>
              <a:t>A Large-Scale Big Data Pipeline for Developer Ecosystem 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8404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E4E8F1"/>
                </a:solidFill>
                <a:latin typeface="Inter"/>
              </a:rPr>
              <a:t>Selin Bardakcı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2062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8B95A8"/>
                </a:solidFill>
                <a:latin typeface="Inter"/>
              </a:rPr>
              <a:t>s.bardakci2022@gtu.edu.tr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79" y="38404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E4E8F1"/>
                </a:solidFill>
                <a:latin typeface="Inter"/>
              </a:rPr>
              <a:t>Bengisu Duru Göksu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79" y="42062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8B95A8"/>
                </a:solidFill>
                <a:latin typeface="Inter"/>
              </a:rPr>
              <a:t>bgoksu2022@gtu.edu.tr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19" y="38404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E4E8F1"/>
                </a:solidFill>
                <a:latin typeface="Inter"/>
              </a:rPr>
              <a:t>Zeynep Yiğit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19" y="42062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8B95A8"/>
                </a:solidFill>
                <a:latin typeface="Inter"/>
              </a:rPr>
              <a:t>z.yigit2022@gtu.edu.tr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029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8B95A8"/>
                </a:solidFill>
                <a:latin typeface="Inter"/>
              </a:rPr>
              <a:t>Dept. of Computer Engineering · Gebze Technical University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3949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A78BFA"/>
                </a:solidFill>
                <a:latin typeface="JetBrains Mono"/>
              </a:rPr>
              <a:t>github.com/selin-bardakci/BigData-Github_Analysis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73152" cy="4572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A78BFA"/>
                </a:solidFill>
                <a:latin typeface="Inter"/>
              </a:rPr>
              <a:t>Outline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58368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E4E8F1"/>
                </a:solidFill>
                <a:latin typeface="Inter"/>
              </a:rPr>
              <a:t>Agenda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325880"/>
            <a:ext cx="10972800" cy="13716"/>
          </a:xfrm>
          <a:prstGeom prst="rect">
            <a:avLst/>
          </a:prstGeom>
          <a:solidFill>
            <a:srgbClr val="1F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45920"/>
            <a:ext cx="109728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2000" b="1">
                <a:solidFill>
                  <a:srgbClr val="A78BFA"/>
                </a:solidFill>
                <a:latin typeface="Inter"/>
              </a:rPr>
              <a:t>▸ </a:t>
            </a:r>
            <a:r>
              <a:rPr sz="2000">
                <a:solidFill>
                  <a:srgbClr val="E4E8F1"/>
                </a:solidFill>
                <a:latin typeface="Inter"/>
              </a:rPr>
              <a:t>Problem &amp; motivation — what makes this hard</a:t>
            </a:r>
          </a:p>
          <a:p>
            <a:pPr algn="l">
              <a:lnSpc>
                <a:spcPct val="160000"/>
              </a:lnSpc>
            </a:pPr>
            <a:r>
              <a:rPr sz="2000" b="1">
                <a:solidFill>
                  <a:srgbClr val="A78BFA"/>
                </a:solidFill>
                <a:latin typeface="Inter"/>
              </a:rPr>
              <a:t>▸ </a:t>
            </a:r>
            <a:r>
              <a:rPr sz="2000">
                <a:solidFill>
                  <a:srgbClr val="E4E8F1"/>
                </a:solidFill>
                <a:latin typeface="Inter"/>
              </a:rPr>
              <a:t>Original approach (abandoned) — why it had to be redesigned</a:t>
            </a:r>
          </a:p>
          <a:p>
            <a:pPr algn="l">
              <a:lnSpc>
                <a:spcPct val="160000"/>
              </a:lnSpc>
            </a:pPr>
            <a:r>
              <a:rPr sz="2000" b="1">
                <a:solidFill>
                  <a:srgbClr val="A78BFA"/>
                </a:solidFill>
                <a:latin typeface="Inter"/>
              </a:rPr>
              <a:t>▸ </a:t>
            </a:r>
            <a:r>
              <a:rPr sz="2000">
                <a:solidFill>
                  <a:srgbClr val="E4E8F1"/>
                </a:solidFill>
                <a:latin typeface="Inter"/>
              </a:rPr>
              <a:t>Revised architecture — data sources, storage, compute</a:t>
            </a:r>
          </a:p>
          <a:p>
            <a:pPr algn="l">
              <a:lnSpc>
                <a:spcPct val="160000"/>
              </a:lnSpc>
            </a:pPr>
            <a:r>
              <a:rPr sz="2000" b="1">
                <a:solidFill>
                  <a:srgbClr val="A78BFA"/>
                </a:solidFill>
                <a:latin typeface="Inter"/>
              </a:rPr>
              <a:t>▸ </a:t>
            </a:r>
            <a:r>
              <a:rPr sz="2000">
                <a:solidFill>
                  <a:srgbClr val="E4E8F1"/>
                </a:solidFill>
                <a:latin typeface="Inter"/>
              </a:rPr>
              <a:t>Key design decisions &amp; trade-offs</a:t>
            </a:r>
          </a:p>
          <a:p>
            <a:pPr algn="l">
              <a:lnSpc>
                <a:spcPct val="160000"/>
              </a:lnSpc>
            </a:pPr>
            <a:r>
              <a:rPr sz="2000" b="1">
                <a:solidFill>
                  <a:srgbClr val="A78BFA"/>
                </a:solidFill>
                <a:latin typeface="Inter"/>
              </a:rPr>
              <a:t>▸ </a:t>
            </a:r>
            <a:r>
              <a:rPr sz="2000">
                <a:solidFill>
                  <a:srgbClr val="E4E8F1"/>
                </a:solidFill>
                <a:latin typeface="Inter"/>
              </a:rPr>
              <a:t>Deliverables D1–D5 — preliminary results</a:t>
            </a:r>
          </a:p>
          <a:p>
            <a:pPr algn="l">
              <a:lnSpc>
                <a:spcPct val="160000"/>
              </a:lnSpc>
            </a:pPr>
            <a:r>
              <a:rPr sz="2000" b="1">
                <a:solidFill>
                  <a:srgbClr val="A78BFA"/>
                </a:solidFill>
                <a:latin typeface="Inter"/>
              </a:rPr>
              <a:t>▸ </a:t>
            </a:r>
            <a:r>
              <a:rPr sz="2000">
                <a:solidFill>
                  <a:srgbClr val="E4E8F1"/>
                </a:solidFill>
                <a:latin typeface="Inter"/>
              </a:rPr>
              <a:t>Interactive Web UI</a:t>
            </a:r>
          </a:p>
          <a:p>
            <a:pPr algn="l">
              <a:lnSpc>
                <a:spcPct val="160000"/>
              </a:lnSpc>
            </a:pPr>
            <a:r>
              <a:rPr sz="2000" b="1">
                <a:solidFill>
                  <a:srgbClr val="A78BFA"/>
                </a:solidFill>
                <a:latin typeface="Inter"/>
              </a:rPr>
              <a:t>▸ </a:t>
            </a:r>
            <a:r>
              <a:rPr sz="2000">
                <a:solidFill>
                  <a:srgbClr val="E4E8F1"/>
                </a:solidFill>
                <a:latin typeface="Inter"/>
              </a:rPr>
              <a:t>Conclusion &amp; remaining 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B95A8"/>
                </a:solidFill>
                <a:latin typeface="Inter"/>
              </a:rPr>
              <a:t>GitHub Tech Trends · Midterm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8B95A8"/>
                </a:solidFill>
                <a:latin typeface="Inter"/>
              </a:rPr>
              <a:t>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73152" cy="4572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A78BFA"/>
                </a:solidFill>
                <a:latin typeface="Inter"/>
              </a:rPr>
              <a:t>Why this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58368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E4E8F1"/>
                </a:solidFill>
                <a:latin typeface="Inter"/>
              </a:rPr>
              <a:t>Problem &amp; Motivation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325880"/>
            <a:ext cx="10972800" cy="13716"/>
          </a:xfrm>
          <a:prstGeom prst="rect">
            <a:avLst/>
          </a:prstGeom>
          <a:solidFill>
            <a:srgbClr val="1F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54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5EEAD4"/>
                </a:solidFill>
                <a:latin typeface="Inter"/>
              </a:rPr>
              <a:t>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20240"/>
            <a:ext cx="106984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E4E8F1"/>
                </a:solidFill>
                <a:latin typeface="Inter"/>
              </a:rPr>
              <a:t>Which programming technologies are emerging, which are declining, and what does the developer ecosystem behind them look like?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0175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5EEAD4"/>
                </a:solidFill>
                <a:latin typeface="Inter"/>
              </a:rPr>
              <a:t>Scope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383280"/>
            <a:ext cx="1069848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1">
                <a:solidFill>
                  <a:srgbClr val="A78BFA"/>
                </a:solidFill>
                <a:latin typeface="Inter"/>
              </a:rPr>
              <a:t>▸ </a:t>
            </a:r>
            <a:r>
              <a:rPr sz="1700">
                <a:solidFill>
                  <a:srgbClr val="E4E8F1"/>
                </a:solidFill>
                <a:latin typeface="Inter"/>
              </a:rPr>
              <a:t>22.9M GitHub repositories — HuggingFace + GH Archive</a:t>
            </a:r>
          </a:p>
          <a:p>
            <a:pPr algn="l">
              <a:lnSpc>
                <a:spcPct val="150000"/>
              </a:lnSpc>
            </a:pPr>
            <a:r>
              <a:rPr sz="1700" b="1">
                <a:solidFill>
                  <a:srgbClr val="A78BFA"/>
                </a:solidFill>
                <a:latin typeface="Inter"/>
              </a:rPr>
              <a:t>▸ </a:t>
            </a:r>
            <a:r>
              <a:rPr sz="1700">
                <a:solidFill>
                  <a:srgbClr val="E4E8F1"/>
                </a:solidFill>
                <a:latin typeface="Inter"/>
              </a:rPr>
              <a:t>126 months of activity (January 2015 → June 2025)</a:t>
            </a:r>
          </a:p>
          <a:p>
            <a:pPr algn="l">
              <a:lnSpc>
                <a:spcPct val="150000"/>
              </a:lnSpc>
            </a:pPr>
            <a:r>
              <a:rPr sz="1700" b="1">
                <a:solidFill>
                  <a:srgbClr val="A78BFA"/>
                </a:solidFill>
                <a:latin typeface="Inter"/>
              </a:rPr>
              <a:t>▸ </a:t>
            </a:r>
            <a:r>
              <a:rPr sz="1700">
                <a:solidFill>
                  <a:srgbClr val="E4E8F1"/>
                </a:solidFill>
                <a:latin typeface="Inter"/>
              </a:rPr>
              <a:t>542 programming languages, 25,000 developers</a:t>
            </a:r>
          </a:p>
          <a:p>
            <a:pPr algn="l">
              <a:lnSpc>
                <a:spcPct val="150000"/>
              </a:lnSpc>
            </a:pPr>
            <a:r>
              <a:rPr sz="1700" b="1">
                <a:solidFill>
                  <a:srgbClr val="A78BFA"/>
                </a:solidFill>
                <a:latin typeface="Inter"/>
              </a:rPr>
              <a:t>▸ </a:t>
            </a:r>
            <a:r>
              <a:rPr sz="1700">
                <a:solidFill>
                  <a:srgbClr val="E4E8F1"/>
                </a:solidFill>
                <a:latin typeface="Inter"/>
              </a:rPr>
              <a:t>Five deliverables: trends, forecasts, migration, influence, communities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B95A8"/>
                </a:solidFill>
                <a:latin typeface="Inter"/>
              </a:rPr>
              <a:t>GitHub Tech Trends · Midterm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8B95A8"/>
                </a:solidFill>
                <a:latin typeface="Inter"/>
              </a:rPr>
              <a:t>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73152" cy="4572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A78BFA"/>
                </a:solidFill>
                <a:latin typeface="Inter"/>
              </a:rPr>
              <a:t>Phase 1 proposal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58368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E4E8F1"/>
                </a:solidFill>
                <a:latin typeface="Inter"/>
              </a:rPr>
              <a:t>Original Approach — and Why We Abandoned 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325880"/>
            <a:ext cx="10972800" cy="13716"/>
          </a:xfrm>
          <a:prstGeom prst="rect">
            <a:avLst/>
          </a:prstGeom>
          <a:solidFill>
            <a:srgbClr val="1F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87171"/>
                </a:solidFill>
                <a:latin typeface="Inter"/>
              </a:rPr>
              <a:t>Phase-1 proposal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65960"/>
            <a:ext cx="521208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1">
                <a:solidFill>
                  <a:srgbClr val="F87171"/>
                </a:solidFill>
                <a:latin typeface="Inter"/>
              </a:rPr>
              <a:t>▸ </a:t>
            </a:r>
            <a:r>
              <a:rPr sz="1400">
                <a:solidFill>
                  <a:srgbClr val="E4E8F1"/>
                </a:solidFill>
                <a:latin typeface="Inter"/>
              </a:rPr>
              <a:t>Source: bigquery-public-data.github_repos (snapshot frozen ~2017)</a:t>
            </a:r>
          </a:p>
          <a:p>
            <a:pPr algn="l">
              <a:lnSpc>
                <a:spcPct val="145000"/>
              </a:lnSpc>
            </a:pPr>
            <a:r>
              <a:rPr sz="1400" b="1">
                <a:solidFill>
                  <a:srgbClr val="F87171"/>
                </a:solidFill>
                <a:latin typeface="Inter"/>
              </a:rPr>
              <a:t>▸ </a:t>
            </a:r>
            <a:r>
              <a:rPr sz="1400">
                <a:solidFill>
                  <a:srgbClr val="E4E8F1"/>
                </a:solidFill>
                <a:latin typeface="Inter"/>
              </a:rPr>
              <a:t>Modelling: ARIMA(2,1,2) for forecasting</a:t>
            </a:r>
          </a:p>
          <a:p>
            <a:pPr algn="l">
              <a:lnSpc>
                <a:spcPct val="145000"/>
              </a:lnSpc>
            </a:pPr>
            <a:r>
              <a:rPr sz="1400" b="1">
                <a:solidFill>
                  <a:srgbClr val="F87171"/>
                </a:solidFill>
                <a:latin typeface="Inter"/>
              </a:rPr>
              <a:t>▸ </a:t>
            </a:r>
            <a:r>
              <a:rPr sz="1400">
                <a:solidFill>
                  <a:srgbClr val="E4E8F1"/>
                </a:solidFill>
                <a:latin typeface="Inter"/>
              </a:rPr>
              <a:t>Co-authorship graph computed directly inside BigQuery SQL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60020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BBF24"/>
                </a:solidFill>
                <a:latin typeface="Inter"/>
              </a:rPr>
              <a:t>Two critical problems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965960"/>
            <a:ext cx="521208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1">
                <a:solidFill>
                  <a:srgbClr val="FBBF24"/>
                </a:solidFill>
                <a:latin typeface="Inter"/>
              </a:rPr>
              <a:t>▸ </a:t>
            </a:r>
            <a:r>
              <a:rPr sz="1400">
                <a:solidFill>
                  <a:srgbClr val="E4E8F1"/>
                </a:solidFill>
                <a:latin typeface="Inter"/>
              </a:rPr>
              <a:t>Point-in-time labels — bytes column = state at single crawl date. Cross-joining onto every month produces a cross-sectional artefact, not a time-series.</a:t>
            </a:r>
          </a:p>
          <a:p>
            <a:pPr algn="l">
              <a:lnSpc>
                <a:spcPct val="145000"/>
              </a:lnSpc>
            </a:pPr>
            <a:r>
              <a:rPr sz="1400" b="1">
                <a:solidFill>
                  <a:srgbClr val="FBBF24"/>
                </a:solidFill>
                <a:latin typeface="Inter"/>
              </a:rPr>
              <a:t>▸ </a:t>
            </a:r>
            <a:r>
              <a:rPr sz="1400">
                <a:solidFill>
                  <a:srgbClr val="E4E8F1"/>
                </a:solidFill>
                <a:latin typeface="Inter"/>
              </a:rPr>
              <a:t>Coverage cut-off in 2017 — excludes the entire 2018–2025 rise of TypeScript, Rust, Go, Kotlin — the very languages most informative for forecasting.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5120640"/>
            <a:ext cx="10698480" cy="1005840"/>
          </a:xfrm>
          <a:prstGeom prst="roundRect">
            <a:avLst/>
          </a:prstGeom>
          <a:solidFill>
            <a:srgbClr val="151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2120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A78BFA"/>
                </a:solidFill>
                <a:latin typeface="Inter"/>
              </a:rPr>
              <a:t>Decision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486400"/>
            <a:ext cx="10332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E4E8F1"/>
                </a:solidFill>
                <a:latin typeface="Inter"/>
              </a:rPr>
              <a:t>Replace both data sources, replace the forecasting model, and rebuild the pipeline on Spark.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B95A8"/>
                </a:solidFill>
                <a:latin typeface="Inter"/>
              </a:rPr>
              <a:t>GitHub Tech Trends · Midterm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8B95A8"/>
                </a:solidFill>
                <a:latin typeface="Inter"/>
              </a:rPr>
              <a:t>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73152" cy="4572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A78BFA"/>
                </a:solidFill>
                <a:latin typeface="Inter"/>
              </a:rPr>
              <a:t>System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58368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E4E8F1"/>
                </a:solidFill>
                <a:latin typeface="Inter"/>
              </a:rPr>
              <a:t>Revised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325880"/>
            <a:ext cx="10972800" cy="13716"/>
          </a:xfrm>
          <a:prstGeom prst="rect">
            <a:avLst/>
          </a:prstGeom>
          <a:solidFill>
            <a:srgbClr val="1F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3727" y="2194560"/>
            <a:ext cx="2560320" cy="2194560"/>
          </a:xfrm>
          <a:prstGeom prst="roundRect">
            <a:avLst/>
          </a:prstGeom>
          <a:solidFill>
            <a:srgbClr val="151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3727" y="2194560"/>
            <a:ext cx="2560320" cy="9144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3727" y="242316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A78BFA"/>
                </a:solidFill>
                <a:latin typeface="JetBrains Mono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3727" y="274320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E4E8F1"/>
                </a:solidFill>
                <a:latin typeface="Inter"/>
              </a:rPr>
              <a:t>INGESTION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6607" y="3246120"/>
            <a:ext cx="219456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100" b="0" i="0">
                <a:solidFill>
                  <a:srgbClr val="8B95A8"/>
                </a:solidFill>
                <a:latin typeface="Inter"/>
              </a:rPr>
              <a:t>HuggingFace 40M
+ GH Archive
→ GCS raw Parquet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142335" y="3154680"/>
            <a:ext cx="237744" cy="365760"/>
          </a:xfrm>
          <a:prstGeom prst="rightArrow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98367" y="2194560"/>
            <a:ext cx="2560320" cy="2194560"/>
          </a:xfrm>
          <a:prstGeom prst="roundRect">
            <a:avLst/>
          </a:prstGeom>
          <a:solidFill>
            <a:srgbClr val="151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98367" y="2194560"/>
            <a:ext cx="2560320" cy="91440"/>
          </a:xfrm>
          <a:prstGeom prst="rect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98367" y="242316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5EEAD4"/>
                </a:solidFill>
                <a:latin typeface="JetBrains Mono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98367" y="274320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E4E8F1"/>
                </a:solidFill>
                <a:latin typeface="Inter"/>
              </a:rPr>
              <a:t>PROCESSING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81247" y="3246120"/>
            <a:ext cx="219456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100" b="0" i="0">
                <a:solidFill>
                  <a:srgbClr val="8B95A8"/>
                </a:solidFill>
                <a:latin typeface="Inter"/>
              </a:rPr>
              <a:t>6 Spark jobs on
Dataproc (us-east1)
Parquet + Snappy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976975" y="3154680"/>
            <a:ext cx="237744" cy="365760"/>
          </a:xfrm>
          <a:prstGeom prst="rightArrow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33007" y="2194560"/>
            <a:ext cx="2560320" cy="2194560"/>
          </a:xfrm>
          <a:prstGeom prst="roundRect">
            <a:avLst/>
          </a:prstGeom>
          <a:solidFill>
            <a:srgbClr val="151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3007" y="2194560"/>
            <a:ext cx="2560320" cy="91440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33007" y="242316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472B6"/>
                </a:solidFill>
                <a:latin typeface="JetBrains Mono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33007" y="274320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E4E8F1"/>
                </a:solidFill>
                <a:latin typeface="Inter"/>
              </a:rPr>
              <a:t>ANALYSIS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5887" y="3246120"/>
            <a:ext cx="219456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100" b="0" i="0">
                <a:solidFill>
                  <a:srgbClr val="8B95A8"/>
                </a:solidFill>
                <a:latin typeface="Inter"/>
              </a:rPr>
              <a:t>5 Jupyter notebooks
read processed GCS
figures + tables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811615" y="3154680"/>
            <a:ext cx="237744" cy="365760"/>
          </a:xfrm>
          <a:prstGeom prst="rightArrow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067647" y="2194560"/>
            <a:ext cx="2560320" cy="2194560"/>
          </a:xfrm>
          <a:prstGeom prst="roundRect">
            <a:avLst/>
          </a:prstGeom>
          <a:solidFill>
            <a:srgbClr val="151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67647" y="2194560"/>
            <a:ext cx="2560320" cy="9144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67647" y="242316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BBF24"/>
                </a:solidFill>
                <a:latin typeface="JetBrains Mono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67647" y="274320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E4E8F1"/>
                </a:solidFill>
                <a:latin typeface="Inter"/>
              </a:rPr>
              <a:t>DELIVERY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50527" y="3246120"/>
            <a:ext cx="219456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100" b="0" i="0">
                <a:solidFill>
                  <a:srgbClr val="8B95A8"/>
                </a:solidFill>
                <a:latin typeface="Inter"/>
              </a:rPr>
              <a:t>React + Recharts
web dashboard
static JSON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484632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1">
                <a:solidFill>
                  <a:srgbClr val="8B95A8"/>
                </a:solidFill>
                <a:latin typeface="Inter"/>
              </a:rPr>
              <a:t>All inter-stage data is Apache Parquet + Snappy on GCS — columnar reads, predicate pushdown, and splittability for parallel Spark executors.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5577840"/>
            <a:ext cx="10698480" cy="640080"/>
          </a:xfrm>
          <a:prstGeom prst="rect">
            <a:avLst/>
          </a:prstGeom>
          <a:solidFill>
            <a:srgbClr val="151B27"/>
          </a:solidFill>
          <a:ln w="12700">
            <a:solidFill>
              <a:srgbClr val="A78BFA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569788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8B95A8"/>
                </a:solidFill>
                <a:latin typeface="Inter"/>
              </a:rPr>
              <a:t>🖼  Image placeholder</a:t>
            </a:r>
          </a:p>
          <a:p>
            <a:pPr algn="ctr"/>
            <a:r>
              <a:rPr sz="1100">
                <a:solidFill>
                  <a:srgbClr val="5EEAD4"/>
                </a:solidFill>
                <a:latin typeface="JetBrains Mono"/>
              </a:rPr>
              <a:t>Fig. 1 — End-to-end pipeline diagram (from report)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B95A8"/>
                </a:solidFill>
                <a:latin typeface="Inter"/>
              </a:rPr>
              <a:t>GitHub Tech Trends · Midterm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8B95A8"/>
                </a:solidFill>
                <a:latin typeface="Inter"/>
              </a:rPr>
              <a:t>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73152" cy="4572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A78BFA"/>
                </a:solidFill>
                <a:latin typeface="Inter"/>
              </a:rPr>
              <a:t>What we ingest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58368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E4E8F1"/>
                </a:solidFill>
                <a:latin typeface="Inter"/>
              </a:rPr>
              <a:t>Data Sources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325880"/>
            <a:ext cx="10972800" cy="13716"/>
          </a:xfrm>
          <a:prstGeom prst="rect">
            <a:avLst/>
          </a:prstGeom>
          <a:solidFill>
            <a:srgbClr val="1F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691640"/>
            <a:ext cx="5303520" cy="4023360"/>
          </a:xfrm>
          <a:prstGeom prst="roundRect">
            <a:avLst/>
          </a:prstGeom>
          <a:solidFill>
            <a:srgbClr val="151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691640"/>
            <a:ext cx="5303520" cy="10972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920240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E4E8F1"/>
                </a:solidFill>
                <a:latin typeface="Inter"/>
              </a:rPr>
              <a:t>HuggingFace github-repos-metadata-40M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377440"/>
            <a:ext cx="484632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A78BFA"/>
                </a:solidFill>
                <a:latin typeface="Inter"/>
              </a:rPr>
              <a:t>▸ </a:t>
            </a:r>
            <a:r>
              <a:rPr sz="1300">
                <a:solidFill>
                  <a:srgbClr val="E4E8F1"/>
                </a:solidFill>
                <a:latin typeface="Inter"/>
              </a:rPr>
              <a:t>22.9M repositories with Linguist language labels</a:t>
            </a:r>
          </a:p>
          <a:p>
            <a:pPr algn="l">
              <a:lnSpc>
                <a:spcPct val="150000"/>
              </a:lnSpc>
            </a:pPr>
            <a:r>
              <a:rPr sz="1300" b="1">
                <a:solidFill>
                  <a:srgbClr val="A78BFA"/>
                </a:solidFill>
                <a:latin typeface="Inter"/>
              </a:rPr>
              <a:t>▸ </a:t>
            </a:r>
            <a:r>
              <a:rPr sz="1300">
                <a:solidFill>
                  <a:srgbClr val="E4E8F1"/>
                </a:solidFill>
                <a:latin typeface="Inter"/>
              </a:rPr>
              <a:t>Creation dates spanning 8 years through 23 July 2025</a:t>
            </a:r>
          </a:p>
          <a:p>
            <a:pPr algn="l">
              <a:lnSpc>
                <a:spcPct val="150000"/>
              </a:lnSpc>
            </a:pPr>
            <a:r>
              <a:rPr sz="1300" b="1">
                <a:solidFill>
                  <a:srgbClr val="A78BFA"/>
                </a:solidFill>
                <a:latin typeface="Inter"/>
              </a:rPr>
              <a:t>▸ </a:t>
            </a:r>
            <a:r>
              <a:rPr sz="1300">
                <a:solidFill>
                  <a:srgbClr val="E4E8F1"/>
                </a:solidFill>
                <a:latin typeface="Inter"/>
              </a:rPr>
              <a:t>Sharded into 459 files → 459-way Spark parallelism</a:t>
            </a:r>
          </a:p>
          <a:p>
            <a:pPr algn="l">
              <a:lnSpc>
                <a:spcPct val="150000"/>
              </a:lnSpc>
            </a:pPr>
            <a:r>
              <a:rPr sz="1300" b="1">
                <a:solidFill>
                  <a:srgbClr val="A78BFA"/>
                </a:solidFill>
                <a:latin typeface="Inter"/>
              </a:rPr>
              <a:t>▸ </a:t>
            </a:r>
            <a:r>
              <a:rPr sz="1300">
                <a:solidFill>
                  <a:srgbClr val="E4E8F1"/>
                </a:solidFill>
                <a:latin typeface="Inter"/>
              </a:rPr>
              <a:t>Replaces the 2017-frozen BigQuery snapshot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691640"/>
            <a:ext cx="5303520" cy="4023360"/>
          </a:xfrm>
          <a:prstGeom prst="roundRect">
            <a:avLst/>
          </a:prstGeom>
          <a:solidFill>
            <a:srgbClr val="151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691640"/>
            <a:ext cx="5303520" cy="109728"/>
          </a:xfrm>
          <a:prstGeom prst="rect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1920240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E4E8F1"/>
                </a:solidFill>
                <a:latin typeface="Inter"/>
              </a:rPr>
              <a:t>GitHub Archive (githubarchive.month.*)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377440"/>
            <a:ext cx="484632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5EEAD4"/>
                </a:solidFill>
                <a:latin typeface="Inter"/>
              </a:rPr>
              <a:t>▸ </a:t>
            </a:r>
            <a:r>
              <a:rPr sz="1300">
                <a:solidFill>
                  <a:srgbClr val="E4E8F1"/>
                </a:solidFill>
                <a:latin typeface="Inter"/>
              </a:rPr>
              <a:t>PushEvent counts per (repo, year_month) since 2015</a:t>
            </a:r>
          </a:p>
          <a:p>
            <a:pPr algn="l">
              <a:lnSpc>
                <a:spcPct val="150000"/>
              </a:lnSpc>
            </a:pPr>
            <a:r>
              <a:rPr sz="1300" b="1">
                <a:solidFill>
                  <a:srgbClr val="5EEAD4"/>
                </a:solidFill>
                <a:latin typeface="Inter"/>
              </a:rPr>
              <a:t>▸ </a:t>
            </a:r>
            <a:r>
              <a:rPr sz="1300">
                <a:solidFill>
                  <a:srgbClr val="E4E8F1"/>
                </a:solidFill>
                <a:latin typeface="Inter"/>
              </a:rPr>
              <a:t>Live BigQuery dataset — updated monthly</a:t>
            </a:r>
          </a:p>
          <a:p>
            <a:pPr algn="l">
              <a:lnSpc>
                <a:spcPct val="150000"/>
              </a:lnSpc>
            </a:pPr>
            <a:r>
              <a:rPr sz="1300" b="1">
                <a:solidFill>
                  <a:srgbClr val="5EEAD4"/>
                </a:solidFill>
                <a:latin typeface="Inter"/>
              </a:rPr>
              <a:t>▸ </a:t>
            </a:r>
            <a:r>
              <a:rPr sz="1300">
                <a:solidFill>
                  <a:srgbClr val="E4E8F1"/>
                </a:solidFill>
                <a:latin typeface="Inter"/>
              </a:rPr>
              <a:t>Cross-joined with HF labels on repo_name</a:t>
            </a:r>
          </a:p>
          <a:p>
            <a:pPr algn="l">
              <a:lnSpc>
                <a:spcPct val="150000"/>
              </a:lnSpc>
            </a:pPr>
            <a:r>
              <a:rPr sz="1300" b="1">
                <a:solidFill>
                  <a:srgbClr val="5EEAD4"/>
                </a:solidFill>
                <a:latin typeface="Inter"/>
              </a:rPr>
              <a:t>▸ </a:t>
            </a:r>
            <a:r>
              <a:rPr sz="1300">
                <a:solidFill>
                  <a:srgbClr val="E4E8F1"/>
                </a:solidFill>
                <a:latin typeface="Inter"/>
              </a:rPr>
              <a:t>Replaces the frozen commits table from BigQuery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85216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8B95A8"/>
                </a:solidFill>
                <a:latin typeface="Inter"/>
              </a:rPr>
              <a:t>Both sources were chosen to provide real time-series data — the fundamental defect of the original snapshot-based pipeline.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B95A8"/>
                </a:solidFill>
                <a:latin typeface="Inter"/>
              </a:rPr>
              <a:t>GitHub Tech Trends · Midterm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8B95A8"/>
                </a:solidFill>
                <a:latin typeface="Inter"/>
              </a:rPr>
              <a:t>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73152" cy="4572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A78BFA"/>
                </a:solidFill>
                <a:latin typeface="Inter"/>
              </a:rPr>
              <a:t>Processing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58368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E4E8F1"/>
                </a:solidFill>
                <a:latin typeface="Inter"/>
              </a:rPr>
              <a:t>Spark Pipeline — Six Sequential Jobs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325880"/>
            <a:ext cx="10972800" cy="13716"/>
          </a:xfrm>
          <a:prstGeom prst="rect">
            <a:avLst/>
          </a:prstGeom>
          <a:solidFill>
            <a:srgbClr val="1F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645920"/>
            <a:ext cx="3657600" cy="1920240"/>
          </a:xfrm>
          <a:prstGeom prst="roundRect">
            <a:avLst/>
          </a:prstGeom>
          <a:solidFill>
            <a:srgbClr val="151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645920"/>
            <a:ext cx="73152" cy="192024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8308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E4E8F1"/>
                </a:solidFill>
                <a:latin typeface="JetBrains Mono"/>
              </a:rPr>
              <a:t>d1_preprocess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240280"/>
            <a:ext cx="33832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8B95A8"/>
                </a:solidFill>
                <a:latin typeface="Inter"/>
              </a:rPr>
              <a:t>Join Q1 labels with Q2 monthly pushes;
pre-birth filter to remove retroactive labels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1645920"/>
            <a:ext cx="3657600" cy="1920240"/>
          </a:xfrm>
          <a:prstGeom prst="roundRect">
            <a:avLst/>
          </a:prstGeom>
          <a:solidFill>
            <a:srgbClr val="151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645920"/>
            <a:ext cx="73152" cy="192024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178308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E4E8F1"/>
                </a:solidFill>
                <a:latin typeface="JetBrains Mono"/>
              </a:rPr>
              <a:t>d1_aggregate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240280"/>
            <a:ext cx="33832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8B95A8"/>
                </a:solidFill>
                <a:latin typeface="Inter"/>
              </a:rPr>
              <a:t>Group by (language, year_month) →
repo_count, commit_count, total_bytes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66760" y="1645920"/>
            <a:ext cx="3657600" cy="1920240"/>
          </a:xfrm>
          <a:prstGeom prst="roundRect">
            <a:avLst/>
          </a:prstGeom>
          <a:solidFill>
            <a:srgbClr val="151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645920"/>
            <a:ext cx="73152" cy="1920240"/>
          </a:xfrm>
          <a:prstGeom prst="rect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178308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E4E8F1"/>
                </a:solidFill>
                <a:latin typeface="JetBrains Mono"/>
              </a:rPr>
              <a:t>d1_features_cluster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240280"/>
            <a:ext cx="33832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8B95A8"/>
                </a:solidFill>
                <a:latin typeface="Inter"/>
              </a:rPr>
              <a:t>5-D feature vectors → StandardScaler →
KMeans (k=6, seed=42) on Spark MLlib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3749040"/>
            <a:ext cx="3657600" cy="1920240"/>
          </a:xfrm>
          <a:prstGeom prst="roundRect">
            <a:avLst/>
          </a:prstGeom>
          <a:solidFill>
            <a:srgbClr val="151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3749040"/>
            <a:ext cx="73152" cy="1920240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388620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E4E8F1"/>
                </a:solidFill>
                <a:latin typeface="JetBrains Mono"/>
              </a:rPr>
              <a:t>d2_forecasting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343400"/>
            <a:ext cx="33832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8B95A8"/>
                </a:solidFill>
                <a:latin typeface="Inter"/>
              </a:rPr>
              <a:t>Holt-Winters ETS (damped trend + seasonal),
24-month horizon for 30 top languages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0" y="3749040"/>
            <a:ext cx="3657600" cy="1920240"/>
          </a:xfrm>
          <a:prstGeom prst="roundRect">
            <a:avLst/>
          </a:prstGeom>
          <a:solidFill>
            <a:srgbClr val="151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0" y="3749040"/>
            <a:ext cx="73152" cy="192024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00600" y="388620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E4E8F1"/>
                </a:solidFill>
                <a:latin typeface="JetBrains Mono"/>
              </a:rPr>
              <a:t>d3_migration_graph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00600" y="4343400"/>
            <a:ext cx="33832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8B95A8"/>
                </a:solidFill>
                <a:latin typeface="Inter"/>
              </a:rPr>
              <a:t>SQL pattern-matching on commit messages,
70-tech allowlist, min edge weight = 3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66760" y="3749040"/>
            <a:ext cx="3657600" cy="1920240"/>
          </a:xfrm>
          <a:prstGeom prst="roundRect">
            <a:avLst/>
          </a:prstGeom>
          <a:solidFill>
            <a:srgbClr val="151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366760" y="3749040"/>
            <a:ext cx="73152" cy="1920240"/>
          </a:xfrm>
          <a:prstGeom prst="rect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95360" y="388620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E4E8F1"/>
                </a:solidFill>
                <a:latin typeface="JetBrains Mono"/>
              </a:rPr>
              <a:t>d4d5_developer_graph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95360" y="4343400"/>
            <a:ext cx="33832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8B95A8"/>
                </a:solidFill>
                <a:latin typeface="Inter"/>
              </a:rPr>
              <a:t>SHA-256 hash emails, build dev-dev graph,
PageRank + Leiden community detection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598932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FBBF24"/>
                </a:solidFill>
                <a:latin typeface="Inter"/>
              </a:rPr>
              <a:t>Job orchestration: sequential + wait-poll via gcloud dataproc jobs wait — parallel --async caused corrupt Parquet footer errors.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B95A8"/>
                </a:solidFill>
                <a:latin typeface="Inter"/>
              </a:rPr>
              <a:t>GitHub Tech Trends · Midterm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8B95A8"/>
                </a:solidFill>
                <a:latin typeface="Inter"/>
              </a:rPr>
              <a:t>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73152" cy="4572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A78BFA"/>
                </a:solidFill>
                <a:latin typeface="Inter"/>
              </a:rPr>
              <a:t>What we tried and rejected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58368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E4E8F1"/>
                </a:solidFill>
                <a:latin typeface="Inter"/>
              </a:rPr>
              <a:t>Design Decisions (1/3) — Data &amp; Forecasting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325880"/>
            <a:ext cx="10972800" cy="13716"/>
          </a:xfrm>
          <a:prstGeom prst="rect">
            <a:avLst/>
          </a:prstGeom>
          <a:solidFill>
            <a:srgbClr val="1F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45920"/>
            <a:ext cx="2377440" cy="411480"/>
          </a:xfrm>
          <a:prstGeom prst="rect">
            <a:avLst/>
          </a:prstGeom>
          <a:solidFill>
            <a:srgbClr val="1F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1907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4E8F1"/>
                </a:solidFill>
                <a:latin typeface="Inter"/>
              </a:rPr>
              <a:t>Decision point</a:t>
            </a:r>
          </a:p>
        </p:txBody>
      </p:sp>
      <p:sp>
        <p:nvSpPr>
          <p:cNvPr id="9" name="Rectangle 8"/>
          <p:cNvSpPr/>
          <p:nvPr/>
        </p:nvSpPr>
        <p:spPr>
          <a:xfrm>
            <a:off x="3154680" y="1645920"/>
            <a:ext cx="2468880" cy="411480"/>
          </a:xfrm>
          <a:prstGeom prst="rect">
            <a:avLst/>
          </a:prstGeom>
          <a:solidFill>
            <a:srgbClr val="1F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0" y="171907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A78BFA"/>
                </a:solidFill>
                <a:latin typeface="Inter"/>
              </a:rPr>
              <a:t>Chosen 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23560" y="1645920"/>
            <a:ext cx="2468880" cy="411480"/>
          </a:xfrm>
          <a:prstGeom prst="rect">
            <a:avLst/>
          </a:prstGeom>
          <a:solidFill>
            <a:srgbClr val="1F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60720" y="171907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87171"/>
                </a:solidFill>
                <a:latin typeface="Inter"/>
              </a:rPr>
              <a:t>Rejected ✗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92440" y="1645920"/>
            <a:ext cx="4023360" cy="411480"/>
          </a:xfrm>
          <a:prstGeom prst="rect">
            <a:avLst/>
          </a:prstGeom>
          <a:solidFill>
            <a:srgbClr val="1F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1719072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4E8F1"/>
                </a:solidFill>
                <a:latin typeface="Inter"/>
              </a:rPr>
              <a:t>Reason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103120"/>
            <a:ext cx="11338560" cy="960120"/>
          </a:xfrm>
          <a:prstGeom prst="rect">
            <a:avLst/>
          </a:prstGeom>
          <a:solidFill>
            <a:srgbClr val="151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2212848"/>
            <a:ext cx="21945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E4E8F1"/>
                </a:solidFill>
                <a:latin typeface="Inter"/>
              </a:rPr>
              <a:t>Language data source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2212848"/>
            <a:ext cx="22860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4D399"/>
                </a:solidFill>
                <a:latin typeface="JetBrains Mono"/>
              </a:rPr>
              <a:t>HuggingFace 40M (2025)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0" y="2212848"/>
            <a:ext cx="22860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F87171"/>
                </a:solidFill>
                <a:latin typeface="JetBrains Mono"/>
              </a:rPr>
              <a:t>BigQuery snapshot (2017)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212848"/>
            <a:ext cx="38404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8B95A8"/>
                </a:solidFill>
                <a:latin typeface="Inter"/>
              </a:rPr>
              <a:t>BQ is point-in-time; HF provides timestamps + 8 more years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172968"/>
            <a:ext cx="21945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E4E8F1"/>
                </a:solidFill>
                <a:latin typeface="Inter"/>
              </a:rPr>
              <a:t>Commit data source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3172968"/>
            <a:ext cx="22860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4D399"/>
                </a:solidFill>
                <a:latin typeface="JetBrains Mono"/>
              </a:rPr>
              <a:t>GH Archive PushEvents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0" y="3172968"/>
            <a:ext cx="22860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F87171"/>
                </a:solidFill>
                <a:latin typeface="JetBrains Mono"/>
              </a:rPr>
              <a:t>BigQuery frozen commits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3172968"/>
            <a:ext cx="38404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8B95A8"/>
                </a:solidFill>
                <a:latin typeface="Inter"/>
              </a:rPr>
              <a:t>BQ commits table frozen at 2017; GH Archive is live and monthly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4023360"/>
            <a:ext cx="11338560" cy="960120"/>
          </a:xfrm>
          <a:prstGeom prst="rect">
            <a:avLst/>
          </a:prstGeom>
          <a:solidFill>
            <a:srgbClr val="151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133088"/>
            <a:ext cx="21945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E4E8F1"/>
                </a:solidFill>
                <a:latin typeface="Inter"/>
              </a:rPr>
              <a:t>Forecasting model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91840" y="4133088"/>
            <a:ext cx="22860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4D399"/>
                </a:solidFill>
                <a:latin typeface="JetBrains Mono"/>
              </a:rPr>
              <a:t>Holt-Winters ETS (damped)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60720" y="4133088"/>
            <a:ext cx="22860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F87171"/>
                </a:solidFill>
                <a:latin typeface="JetBrains Mono"/>
              </a:rPr>
              <a:t>ARIMA(2,1,2) · Prophet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4133088"/>
            <a:ext cx="38404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8B95A8"/>
                </a:solidFill>
                <a:latin typeface="Inter"/>
              </a:rPr>
              <a:t>ARIMA: flat lines for multi-year growth · Prophet: CmdStan won't build on Dataproc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093208"/>
            <a:ext cx="21945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E4E8F1"/>
                </a:solidFill>
                <a:latin typeface="Inter"/>
              </a:rPr>
              <a:t>Storage format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91840" y="5093208"/>
            <a:ext cx="22860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4D399"/>
                </a:solidFill>
                <a:latin typeface="JetBrains Mono"/>
              </a:rPr>
              <a:t>Parquet + Snappy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60720" y="5093208"/>
            <a:ext cx="22860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F87171"/>
                </a:solidFill>
                <a:latin typeface="JetBrains Mono"/>
              </a:rPr>
              <a:t>CSV, ORC, AVRO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5093208"/>
            <a:ext cx="38404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8B95A8"/>
                </a:solidFill>
                <a:latin typeface="Inter"/>
              </a:rPr>
              <a:t>Columnar reads + predicate pushdown; Snappy fast for compute-bound jobs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B95A8"/>
                </a:solidFill>
                <a:latin typeface="Inter"/>
              </a:rPr>
              <a:t>GitHub Tech Trends · Midterm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8B95A8"/>
                </a:solidFill>
                <a:latin typeface="Inter"/>
              </a:rPr>
              <a:t>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73152" cy="4572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A78BFA"/>
                </a:solidFill>
                <a:latin typeface="Inter"/>
              </a:rPr>
              <a:t>What we tried and rejected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58368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E4E8F1"/>
                </a:solidFill>
                <a:latin typeface="Inter"/>
              </a:rPr>
              <a:t>Design Decisions (2/3) — Graph Analytics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325880"/>
            <a:ext cx="10972800" cy="13716"/>
          </a:xfrm>
          <a:prstGeom prst="rect">
            <a:avLst/>
          </a:prstGeom>
          <a:solidFill>
            <a:srgbClr val="1F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45920"/>
            <a:ext cx="2377440" cy="411480"/>
          </a:xfrm>
          <a:prstGeom prst="rect">
            <a:avLst/>
          </a:prstGeom>
          <a:solidFill>
            <a:srgbClr val="1F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1907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4E8F1"/>
                </a:solidFill>
                <a:latin typeface="Inter"/>
              </a:rPr>
              <a:t>Decision point</a:t>
            </a:r>
          </a:p>
        </p:txBody>
      </p:sp>
      <p:sp>
        <p:nvSpPr>
          <p:cNvPr id="9" name="Rectangle 8"/>
          <p:cNvSpPr/>
          <p:nvPr/>
        </p:nvSpPr>
        <p:spPr>
          <a:xfrm>
            <a:off x="3154680" y="1645920"/>
            <a:ext cx="2468880" cy="411480"/>
          </a:xfrm>
          <a:prstGeom prst="rect">
            <a:avLst/>
          </a:prstGeom>
          <a:solidFill>
            <a:srgbClr val="1F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0" y="171907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A78BFA"/>
                </a:solidFill>
                <a:latin typeface="Inter"/>
              </a:rPr>
              <a:t>Chosen 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23560" y="1645920"/>
            <a:ext cx="2468880" cy="411480"/>
          </a:xfrm>
          <a:prstGeom prst="rect">
            <a:avLst/>
          </a:prstGeom>
          <a:solidFill>
            <a:srgbClr val="1F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60720" y="171907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87171"/>
                </a:solidFill>
                <a:latin typeface="Inter"/>
              </a:rPr>
              <a:t>Rejected ✗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92440" y="1645920"/>
            <a:ext cx="4023360" cy="411480"/>
          </a:xfrm>
          <a:prstGeom prst="rect">
            <a:avLst/>
          </a:prstGeom>
          <a:solidFill>
            <a:srgbClr val="1F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1719072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4E8F1"/>
                </a:solidFill>
                <a:latin typeface="Inter"/>
              </a:rPr>
              <a:t>Reason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103120"/>
            <a:ext cx="11338560" cy="960120"/>
          </a:xfrm>
          <a:prstGeom prst="rect">
            <a:avLst/>
          </a:prstGeom>
          <a:solidFill>
            <a:srgbClr val="151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2212848"/>
            <a:ext cx="21945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E4E8F1"/>
                </a:solidFill>
                <a:latin typeface="Inter"/>
              </a:rPr>
              <a:t>Community detection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2212848"/>
            <a:ext cx="22860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4D399"/>
                </a:solidFill>
                <a:latin typeface="JetBrains Mono"/>
              </a:rPr>
              <a:t>Leiden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0" y="2212848"/>
            <a:ext cx="22860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F87171"/>
                </a:solidFill>
                <a:latin typeface="JetBrains Mono"/>
              </a:rPr>
              <a:t>Louvain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212848"/>
            <a:ext cx="38404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8B95A8"/>
                </a:solidFill>
                <a:latin typeface="Inter"/>
              </a:rPr>
              <a:t>Leiden guarantees well-connected communities; Louvain can split sub-clusters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172968"/>
            <a:ext cx="21945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E4E8F1"/>
                </a:solidFill>
                <a:latin typeface="Inter"/>
              </a:rPr>
              <a:t>Influence metric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3172968"/>
            <a:ext cx="22860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4D399"/>
                </a:solidFill>
                <a:latin typeface="JetBrains Mono"/>
              </a:rPr>
              <a:t>PageRank + Betweenness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0" y="3172968"/>
            <a:ext cx="22860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F87171"/>
                </a:solidFill>
                <a:latin typeface="JetBrains Mono"/>
              </a:rPr>
              <a:t>PageRank + HITS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3172968"/>
            <a:ext cx="38404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8B95A8"/>
                </a:solidFill>
                <a:latin typeface="Inter"/>
              </a:rPr>
              <a:t>HITS hub_score ≡ authority_score on undirected graphs (mathematically degenerate)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4023360"/>
            <a:ext cx="11338560" cy="960120"/>
          </a:xfrm>
          <a:prstGeom prst="rect">
            <a:avLst/>
          </a:prstGeom>
          <a:solidFill>
            <a:srgbClr val="151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133088"/>
            <a:ext cx="21945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E4E8F1"/>
                </a:solidFill>
                <a:latin typeface="Inter"/>
              </a:rPr>
              <a:t>Developer selection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91840" y="4133088"/>
            <a:ext cx="22860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4D399"/>
                </a:solidFill>
                <a:latin typeface="JetBrains Mono"/>
              </a:rPr>
              <a:t>Distinct repository count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60720" y="4133088"/>
            <a:ext cx="22860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F87171"/>
                </a:solidFill>
                <a:latin typeface="JetBrains Mono"/>
              </a:rPr>
              <a:t>Total commit count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4133088"/>
            <a:ext cx="38404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8B95A8"/>
                </a:solidFill>
                <a:latin typeface="Inter"/>
              </a:rPr>
              <a:t>Total commits selects CI bots (e.g. 789K commits); distinct repos finds real contributors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093208"/>
            <a:ext cx="21945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E4E8F1"/>
                </a:solidFill>
                <a:latin typeface="Inter"/>
              </a:rPr>
              <a:t>Megarepo exclusion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91840" y="5093208"/>
            <a:ext cx="22860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4D399"/>
                </a:solidFill>
                <a:latin typeface="JetBrains Mono"/>
              </a:rPr>
              <a:t>MAX_DEVS_PER_REPO = 200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60720" y="5093208"/>
            <a:ext cx="22860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F87171"/>
                </a:solidFill>
                <a:latin typeface="JetBrains Mono"/>
              </a:rPr>
              <a:t>No exclusion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5093208"/>
            <a:ext cx="38404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8B95A8"/>
                </a:solidFill>
                <a:latin typeface="Inter"/>
              </a:rPr>
              <a:t>Linux/TensorFlow contributor lists cause O(N²) join → 50M+ edge rows from one repo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B95A8"/>
                </a:solidFill>
                <a:latin typeface="Inter"/>
              </a:rPr>
              <a:t>GitHub Tech Trends · Midterm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8B95A8"/>
                </a:solidFill>
                <a:latin typeface="Inter"/>
              </a:rPr>
              <a:t>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73152" cy="4572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A78BFA"/>
                </a:solidFill>
                <a:latin typeface="Inter"/>
              </a:rPr>
              <a:t>What we tried and rejected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58368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E4E8F1"/>
                </a:solidFill>
                <a:latin typeface="Inter"/>
              </a:rPr>
              <a:t>Design Decisions (3/3) — Infrastructure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325880"/>
            <a:ext cx="10972800" cy="13716"/>
          </a:xfrm>
          <a:prstGeom prst="rect">
            <a:avLst/>
          </a:prstGeom>
          <a:solidFill>
            <a:srgbClr val="1F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45920"/>
            <a:ext cx="2377440" cy="411480"/>
          </a:xfrm>
          <a:prstGeom prst="rect">
            <a:avLst/>
          </a:prstGeom>
          <a:solidFill>
            <a:srgbClr val="1F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1907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4E8F1"/>
                </a:solidFill>
                <a:latin typeface="Inter"/>
              </a:rPr>
              <a:t>Decision point</a:t>
            </a:r>
          </a:p>
        </p:txBody>
      </p:sp>
      <p:sp>
        <p:nvSpPr>
          <p:cNvPr id="9" name="Rectangle 8"/>
          <p:cNvSpPr/>
          <p:nvPr/>
        </p:nvSpPr>
        <p:spPr>
          <a:xfrm>
            <a:off x="3154680" y="1645920"/>
            <a:ext cx="2468880" cy="411480"/>
          </a:xfrm>
          <a:prstGeom prst="rect">
            <a:avLst/>
          </a:prstGeom>
          <a:solidFill>
            <a:srgbClr val="1F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0" y="171907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A78BFA"/>
                </a:solidFill>
                <a:latin typeface="Inter"/>
              </a:rPr>
              <a:t>Chosen 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23560" y="1645920"/>
            <a:ext cx="2468880" cy="411480"/>
          </a:xfrm>
          <a:prstGeom prst="rect">
            <a:avLst/>
          </a:prstGeom>
          <a:solidFill>
            <a:srgbClr val="1F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60720" y="171907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87171"/>
                </a:solidFill>
                <a:latin typeface="Inter"/>
              </a:rPr>
              <a:t>Rejected ✗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92440" y="1645920"/>
            <a:ext cx="4023360" cy="411480"/>
          </a:xfrm>
          <a:prstGeom prst="rect">
            <a:avLst/>
          </a:prstGeom>
          <a:solidFill>
            <a:srgbClr val="1F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1719072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4E8F1"/>
                </a:solidFill>
                <a:latin typeface="Inter"/>
              </a:rPr>
              <a:t>Reason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103120"/>
            <a:ext cx="11338560" cy="960120"/>
          </a:xfrm>
          <a:prstGeom prst="rect">
            <a:avLst/>
          </a:prstGeom>
          <a:solidFill>
            <a:srgbClr val="151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2212848"/>
            <a:ext cx="21945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E4E8F1"/>
                </a:solidFill>
                <a:latin typeface="Inter"/>
              </a:rPr>
              <a:t>Job orchestration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2212848"/>
            <a:ext cx="22860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4D399"/>
                </a:solidFill>
                <a:latin typeface="JetBrains Mono"/>
              </a:rPr>
              <a:t>Sequential + wait-poll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0" y="2212848"/>
            <a:ext cx="22860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F87171"/>
                </a:solidFill>
                <a:latin typeface="JetBrains Mono"/>
              </a:rPr>
              <a:t>Parallel --async submission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212848"/>
            <a:ext cx="38404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8B95A8"/>
                </a:solidFill>
                <a:latin typeface="Inter"/>
              </a:rPr>
              <a:t>Parallel jobs corrupted GCS outputs — downstream read paths still being written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172968"/>
            <a:ext cx="21945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E4E8F1"/>
                </a:solidFill>
                <a:latin typeface="Inter"/>
              </a:rPr>
              <a:t>Driver-side libraries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3172968"/>
            <a:ext cx="22860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4D399"/>
                </a:solidFill>
                <a:latin typeface="JetBrains Mono"/>
              </a:rPr>
              <a:t>_ensure_module() + pip install at runtime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0" y="3172968"/>
            <a:ext cx="22860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F87171"/>
                </a:solidFill>
                <a:latin typeface="JetBrains Mono"/>
              </a:rPr>
              <a:t>Custom Dataproc image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3172968"/>
            <a:ext cx="38404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8B95A8"/>
                </a:solidFill>
                <a:latin typeface="Inter"/>
              </a:rPr>
              <a:t>Avoids image rebuild while keeping Spark scripts self-contained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4023360"/>
            <a:ext cx="11338560" cy="960120"/>
          </a:xfrm>
          <a:prstGeom prst="rect">
            <a:avLst/>
          </a:prstGeom>
          <a:solidFill>
            <a:srgbClr val="151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133088"/>
            <a:ext cx="21945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E4E8F1"/>
                </a:solidFill>
                <a:latin typeface="Inter"/>
              </a:rPr>
              <a:t>Dataproc zone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91840" y="4133088"/>
            <a:ext cx="22860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4D399"/>
                </a:solidFill>
                <a:latin typeface="JetBrains Mono"/>
              </a:rPr>
              <a:t>us-east1 (auto-zone)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60720" y="4133088"/>
            <a:ext cx="22860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F87171"/>
                </a:solidFill>
                <a:latin typeface="JetBrains Mono"/>
              </a:rPr>
              <a:t>us-central1-a · us-central1-f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4133088"/>
            <a:ext cx="38404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8B95A8"/>
                </a:solidFill>
                <a:latin typeface="Inter"/>
              </a:rPr>
              <a:t>Both us-central1 zones returned 'Out of capacity' twice consecutively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093208"/>
            <a:ext cx="21945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E4E8F1"/>
                </a:solidFill>
                <a:latin typeface="Inter"/>
              </a:rPr>
              <a:t>Data cutoff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91840" y="5093208"/>
            <a:ext cx="22860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4D399"/>
                </a:solidFill>
                <a:latin typeface="JetBrains Mono"/>
              </a:rPr>
              <a:t>year_month ≤ 2025-06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60720" y="5093208"/>
            <a:ext cx="22860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F87171"/>
                </a:solidFill>
                <a:latin typeface="JetBrains Mono"/>
              </a:rPr>
              <a:t>2025-12 or no cap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5093208"/>
            <a:ext cx="38404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8B95A8"/>
                </a:solidFill>
                <a:latin typeface="Inter"/>
              </a:rPr>
              <a:t>HF dataset ends 23 July 2025; post-cutoff months show 49% artificial repo-count drop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B95A8"/>
                </a:solidFill>
                <a:latin typeface="Inter"/>
              </a:rPr>
              <a:t>GitHub Tech Trends · Midterm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8B95A8"/>
                </a:solidFill>
                <a:latin typeface="Inter"/>
              </a:rPr>
              <a:t>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73152" cy="4572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A78BFA"/>
                </a:solidFill>
                <a:latin typeface="Inter"/>
              </a:rPr>
              <a:t>Deliverable 1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58368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E4E8F1"/>
                </a:solidFill>
                <a:latin typeface="Inter"/>
              </a:rPr>
              <a:t>D1 — Language Growth Trends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325880"/>
            <a:ext cx="10972800" cy="13716"/>
          </a:xfrm>
          <a:prstGeom prst="rect">
            <a:avLst/>
          </a:prstGeom>
          <a:solidFill>
            <a:srgbClr val="1F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64008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A78BFA"/>
                </a:solidFill>
                <a:latin typeface="Inter"/>
              </a:rPr>
              <a:t>▸ </a:t>
            </a:r>
            <a:r>
              <a:rPr sz="1300">
                <a:solidFill>
                  <a:srgbClr val="E4E8F1"/>
                </a:solidFill>
                <a:latin typeface="Inter"/>
              </a:rPr>
              <a:t>53,630 monthly rows across 542 languages over 126 months</a:t>
            </a:r>
          </a:p>
          <a:p>
            <a:pPr algn="l">
              <a:lnSpc>
                <a:spcPct val="150000"/>
              </a:lnSpc>
            </a:pPr>
            <a:r>
              <a:rPr sz="1300" b="1">
                <a:solidFill>
                  <a:srgbClr val="A78BFA"/>
                </a:solidFill>
                <a:latin typeface="Inter"/>
              </a:rPr>
              <a:t>▸ </a:t>
            </a:r>
            <a:r>
              <a:rPr sz="1300">
                <a:solidFill>
                  <a:srgbClr val="E4E8F1"/>
                </a:solidFill>
                <a:latin typeface="Inter"/>
              </a:rPr>
              <a:t>Top-10 by mean monthly repo count: JavaScript (~133K), Python (~96K), TypeScript (~47K), Java (~72K), PHP (~38K)</a:t>
            </a:r>
          </a:p>
          <a:p>
            <a:pPr algn="l">
              <a:lnSpc>
                <a:spcPct val="150000"/>
              </a:lnSpc>
            </a:pPr>
            <a:r>
              <a:rPr sz="1300" b="1">
                <a:solidFill>
                  <a:srgbClr val="A78BFA"/>
                </a:solidFill>
                <a:latin typeface="Inter"/>
              </a:rPr>
              <a:t>▸ </a:t>
            </a:r>
            <a:r>
              <a:rPr sz="1300">
                <a:solidFill>
                  <a:srgbClr val="E4E8F1"/>
                </a:solidFill>
                <a:latin typeface="Inter"/>
              </a:rPr>
              <a:t>K-Means (k=6) partitions into trajectory archetypes:</a:t>
            </a:r>
          </a:p>
          <a:p>
            <a:pPr algn="l">
              <a:lnSpc>
                <a:spcPct val="150000"/>
              </a:lnSpc>
            </a:pPr>
            <a:r>
              <a:rPr sz="1300" b="1">
                <a:solidFill>
                  <a:srgbClr val="A78BFA"/>
                </a:solidFill>
                <a:latin typeface="Inter"/>
              </a:rPr>
              <a:t>▸ </a:t>
            </a:r>
            <a:r>
              <a:rPr sz="1300">
                <a:solidFill>
                  <a:srgbClr val="E4E8F1"/>
                </a:solidFill>
                <a:latin typeface="Inter"/>
              </a:rPr>
              <a:t>   • Fast-growing modern — TypeScript, Rust, Go, Kotlin, Dart</a:t>
            </a:r>
          </a:p>
          <a:p>
            <a:pPr algn="l">
              <a:lnSpc>
                <a:spcPct val="150000"/>
              </a:lnSpc>
            </a:pPr>
            <a:r>
              <a:rPr sz="1300" b="1">
                <a:solidFill>
                  <a:srgbClr val="A78BFA"/>
                </a:solidFill>
                <a:latin typeface="Inter"/>
              </a:rPr>
              <a:t>▸ </a:t>
            </a:r>
            <a:r>
              <a:rPr sz="1300">
                <a:solidFill>
                  <a:srgbClr val="E4E8F1"/>
                </a:solidFill>
                <a:latin typeface="Inter"/>
              </a:rPr>
              <a:t>   • Dominant incumbents — JavaScript, Python, Java</a:t>
            </a:r>
          </a:p>
          <a:p>
            <a:pPr algn="l">
              <a:lnSpc>
                <a:spcPct val="150000"/>
              </a:lnSpc>
            </a:pPr>
            <a:r>
              <a:rPr sz="1300" b="1">
                <a:solidFill>
                  <a:srgbClr val="A78BFA"/>
                </a:solidFill>
                <a:latin typeface="Inter"/>
              </a:rPr>
              <a:t>▸ </a:t>
            </a:r>
            <a:r>
              <a:rPr sz="1300">
                <a:solidFill>
                  <a:srgbClr val="E4E8F1"/>
                </a:solidFill>
                <a:latin typeface="Inter"/>
              </a:rPr>
              <a:t>   • Stable systems — C, C++, Objective-C</a:t>
            </a:r>
          </a:p>
          <a:p>
            <a:pPr algn="l">
              <a:lnSpc>
                <a:spcPct val="150000"/>
              </a:lnSpc>
            </a:pPr>
            <a:r>
              <a:rPr sz="1300" b="1">
                <a:solidFill>
                  <a:srgbClr val="A78BFA"/>
                </a:solidFill>
                <a:latin typeface="Inter"/>
              </a:rPr>
              <a:t>▸ </a:t>
            </a:r>
            <a:r>
              <a:rPr sz="1300">
                <a:solidFill>
                  <a:srgbClr val="E4E8F1"/>
                </a:solidFill>
                <a:latin typeface="Inter"/>
              </a:rPr>
              <a:t>   • Declining legacy — Ruby, PHP, Perl, CoffeeScript</a:t>
            </a:r>
          </a:p>
          <a:p>
            <a:pPr algn="l">
              <a:lnSpc>
                <a:spcPct val="150000"/>
              </a:lnSpc>
            </a:pPr>
            <a:r>
              <a:rPr sz="1300" b="1">
                <a:solidFill>
                  <a:srgbClr val="A78BFA"/>
                </a:solidFill>
                <a:latin typeface="Inter"/>
              </a:rPr>
              <a:t>▸ </a:t>
            </a:r>
            <a:r>
              <a:rPr sz="1300">
                <a:solidFill>
                  <a:srgbClr val="E4E8F1"/>
                </a:solidFill>
                <a:latin typeface="Inter"/>
              </a:rPr>
              <a:t>   • Niche/academic — R, Haskell, Julia, Erlang, OCaml</a:t>
            </a:r>
          </a:p>
          <a:p>
            <a:pPr algn="l">
              <a:lnSpc>
                <a:spcPct val="150000"/>
              </a:lnSpc>
            </a:pPr>
            <a:r>
              <a:rPr sz="1300" b="1">
                <a:solidFill>
                  <a:srgbClr val="A78BFA"/>
                </a:solidFill>
                <a:latin typeface="Inter"/>
              </a:rPr>
              <a:t>▸ </a:t>
            </a:r>
            <a:r>
              <a:rPr sz="1300">
                <a:solidFill>
                  <a:srgbClr val="E4E8F1"/>
                </a:solidFill>
                <a:latin typeface="Inter"/>
              </a:rPr>
              <a:t>   • Long-tail — ~430 low-activity languages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79" y="1691640"/>
            <a:ext cx="4023360" cy="2377440"/>
          </a:xfrm>
          <a:prstGeom prst="rect">
            <a:avLst/>
          </a:prstGeom>
          <a:solidFill>
            <a:srgbClr val="151B27"/>
          </a:solidFill>
          <a:ln w="12700">
            <a:solidFill>
              <a:srgbClr val="A78BFA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79" y="2680360"/>
            <a:ext cx="4023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8B95A8"/>
                </a:solidFill>
                <a:latin typeface="Inter"/>
              </a:rPr>
              <a:t>🖼  Image placeholder</a:t>
            </a:r>
          </a:p>
          <a:p>
            <a:pPr algn="ctr"/>
            <a:r>
              <a:rPr sz="1100">
                <a:solidFill>
                  <a:srgbClr val="5EEAD4"/>
                </a:solidFill>
                <a:latin typeface="JetBrains Mono"/>
              </a:rPr>
              <a:t>outputs/d1_timeseries.png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79" y="4206240"/>
            <a:ext cx="4023360" cy="2103120"/>
          </a:xfrm>
          <a:prstGeom prst="rect">
            <a:avLst/>
          </a:prstGeom>
          <a:solidFill>
            <a:srgbClr val="151B27"/>
          </a:solidFill>
          <a:ln w="12700">
            <a:solidFill>
              <a:srgbClr val="A78BFA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79" y="5057800"/>
            <a:ext cx="4023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8B95A8"/>
                </a:solidFill>
                <a:latin typeface="Inter"/>
              </a:rPr>
              <a:t>🖼  Image placeholder</a:t>
            </a:r>
          </a:p>
          <a:p>
            <a:pPr algn="ctr"/>
            <a:r>
              <a:rPr sz="1100">
                <a:solidFill>
                  <a:srgbClr val="5EEAD4"/>
                </a:solidFill>
                <a:latin typeface="JetBrains Mono"/>
              </a:rPr>
              <a:t>outputs/d1_cluster_pca.png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B95A8"/>
                </a:solidFill>
                <a:latin typeface="Inter"/>
              </a:rPr>
              <a:t>GitHub Tech Trends · Midterm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8B95A8"/>
                </a:solidFill>
                <a:latin typeface="Inter"/>
              </a:rPr>
              <a:t>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73152" cy="4572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A78BFA"/>
                </a:solidFill>
                <a:latin typeface="Inter"/>
              </a:rPr>
              <a:t>Deliverable 2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58368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E4E8F1"/>
                </a:solidFill>
                <a:latin typeface="Inter"/>
              </a:rPr>
              <a:t>D2 — 24-Month Holt-Winters Forecasts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325880"/>
            <a:ext cx="10972800" cy="13716"/>
          </a:xfrm>
          <a:prstGeom prst="rect">
            <a:avLst/>
          </a:prstGeom>
          <a:solidFill>
            <a:srgbClr val="1F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459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5EEAD4"/>
                </a:solidFill>
                <a:latin typeface="Inter"/>
              </a:rPr>
              <a:t>Projected 24-month change from June 2025 baseline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194560"/>
            <a:ext cx="6400800" cy="457200"/>
          </a:xfrm>
          <a:prstGeom prst="roundRect">
            <a:avLst/>
          </a:prstGeom>
          <a:solidFill>
            <a:srgbClr val="151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2860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4E8F1"/>
                </a:solidFill>
                <a:latin typeface="Inter"/>
              </a:rPr>
              <a:t>Nix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28600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34D399"/>
                </a:solidFill>
                <a:latin typeface="JetBrains Mono"/>
              </a:rPr>
              <a:t>+27%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28600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B95A8"/>
                </a:solidFill>
                <a:latin typeface="Inter"/>
              </a:rPr>
              <a:t>Reproducible build adoption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743200"/>
            <a:ext cx="6400800" cy="457200"/>
          </a:xfrm>
          <a:prstGeom prst="roundRect">
            <a:avLst/>
          </a:prstGeom>
          <a:solidFill>
            <a:srgbClr val="151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8346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4E8F1"/>
                </a:solidFill>
                <a:latin typeface="Inter"/>
              </a:rPr>
              <a:t>C#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83464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34D399"/>
                </a:solidFill>
                <a:latin typeface="JetBrains Mono"/>
              </a:rPr>
              <a:t>+26%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283464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B95A8"/>
                </a:solidFill>
                <a:latin typeface="Inter"/>
              </a:rPr>
              <a:t>Unity + .NET MAUI segments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291840"/>
            <a:ext cx="6400800" cy="457200"/>
          </a:xfrm>
          <a:prstGeom prst="roundRect">
            <a:avLst/>
          </a:prstGeom>
          <a:solidFill>
            <a:srgbClr val="151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3832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4E8F1"/>
                </a:solidFill>
                <a:latin typeface="Inter"/>
              </a:rPr>
              <a:t>Go, Rust, Julia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338328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34D399"/>
                </a:solidFill>
                <a:latin typeface="JetBrains Mono"/>
              </a:rPr>
              <a:t>+18%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0" y="338328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B95A8"/>
                </a:solidFill>
                <a:latin typeface="Inter"/>
              </a:rPr>
              <a:t>Systems &amp; ML momentum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3840480"/>
            <a:ext cx="6400800" cy="457200"/>
          </a:xfrm>
          <a:prstGeom prst="roundRect">
            <a:avLst/>
          </a:prstGeom>
          <a:solidFill>
            <a:srgbClr val="151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39319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4E8F1"/>
                </a:solidFill>
                <a:latin typeface="Inter"/>
              </a:rPr>
              <a:t>TypeScript, Python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393192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34D399"/>
                </a:solidFill>
                <a:latin typeface="JetBrains Mono"/>
              </a:rPr>
              <a:t>+10%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52160" y="393192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B95A8"/>
                </a:solidFill>
                <a:latin typeface="Inter"/>
              </a:rPr>
              <a:t>Sustained expansion at scale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4389120"/>
            <a:ext cx="6400800" cy="457200"/>
          </a:xfrm>
          <a:prstGeom prst="roundRect">
            <a:avLst/>
          </a:prstGeom>
          <a:solidFill>
            <a:srgbClr val="151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448056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4E8F1"/>
                </a:solidFill>
                <a:latin typeface="Inter"/>
              </a:rPr>
              <a:t>JavaScript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448056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FBBF24"/>
                </a:solidFill>
                <a:latin typeface="JetBrains Mono"/>
              </a:rPr>
              <a:t>+4%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52160" y="448056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B95A8"/>
                </a:solidFill>
                <a:latin typeface="Inter"/>
              </a:rPr>
              <a:t>Plateau — market saturation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4937760"/>
            <a:ext cx="6400800" cy="457200"/>
          </a:xfrm>
          <a:prstGeom prst="roundRect">
            <a:avLst/>
          </a:prstGeom>
          <a:solidFill>
            <a:srgbClr val="151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" y="50292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4E8F1"/>
                </a:solidFill>
                <a:latin typeface="Inter"/>
              </a:rPr>
              <a:t>Vim Script, SCSS, Objective-C, Ruby, Lua, PHP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0" y="502920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F87171"/>
                </a:solidFill>
                <a:latin typeface="JetBrains Mono"/>
              </a:rPr>
              <a:t>−6 to −27%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52160" y="502920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B95A8"/>
                </a:solidFill>
                <a:latin typeface="Inter"/>
              </a:rPr>
              <a:t>Consistent multi-year decline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498079" y="1691640"/>
            <a:ext cx="4023360" cy="2286000"/>
          </a:xfrm>
          <a:prstGeom prst="rect">
            <a:avLst/>
          </a:prstGeom>
          <a:solidFill>
            <a:srgbClr val="151B27"/>
          </a:solidFill>
          <a:ln w="12700">
            <a:solidFill>
              <a:srgbClr val="A78BFA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79" y="2634640"/>
            <a:ext cx="4023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8B95A8"/>
                </a:solidFill>
                <a:latin typeface="Inter"/>
              </a:rPr>
              <a:t>🖼  Image placeholder</a:t>
            </a:r>
          </a:p>
          <a:p>
            <a:pPr algn="ctr"/>
            <a:r>
              <a:rPr sz="1100">
                <a:solidFill>
                  <a:srgbClr val="5EEAD4"/>
                </a:solidFill>
                <a:latin typeface="JetBrains Mono"/>
              </a:rPr>
              <a:t>outputs/d2_top6_forecasts.png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98079" y="4114800"/>
            <a:ext cx="4023360" cy="2286000"/>
          </a:xfrm>
          <a:prstGeom prst="rect">
            <a:avLst/>
          </a:prstGeom>
          <a:solidFill>
            <a:srgbClr val="151B27"/>
          </a:solidFill>
          <a:ln w="12700">
            <a:solidFill>
              <a:srgbClr val="A78BFA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98079" y="5057800"/>
            <a:ext cx="4023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8B95A8"/>
                </a:solidFill>
                <a:latin typeface="Inter"/>
              </a:rPr>
              <a:t>🖼  Image placeholder</a:t>
            </a:r>
          </a:p>
          <a:p>
            <a:pPr algn="ctr"/>
            <a:r>
              <a:rPr sz="1100">
                <a:solidFill>
                  <a:srgbClr val="5EEAD4"/>
                </a:solidFill>
                <a:latin typeface="JetBrains Mono"/>
              </a:rPr>
              <a:t>outputs/d2_forecast_summary.png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B95A8"/>
                </a:solidFill>
                <a:latin typeface="Inter"/>
              </a:rPr>
              <a:t>GitHub Tech Trends · Midterm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8B95A8"/>
                </a:solidFill>
                <a:latin typeface="Inter"/>
              </a:rPr>
              <a:t>12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73152" cy="4572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A78BFA"/>
                </a:solidFill>
                <a:latin typeface="Inter"/>
              </a:rPr>
              <a:t>Deliverable 3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58368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E4E8F1"/>
                </a:solidFill>
                <a:latin typeface="Inter"/>
              </a:rPr>
              <a:t>D3 — Technology Migration Graph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325880"/>
            <a:ext cx="10972800" cy="13716"/>
          </a:xfrm>
          <a:prstGeom prst="rect">
            <a:avLst/>
          </a:prstGeom>
          <a:solidFill>
            <a:srgbClr val="1F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658368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1">
                <a:solidFill>
                  <a:srgbClr val="A78BFA"/>
                </a:solidFill>
                <a:latin typeface="Inter"/>
              </a:rPr>
              <a:t>▸ </a:t>
            </a:r>
            <a:r>
              <a:rPr sz="1400">
                <a:solidFill>
                  <a:srgbClr val="E4E8F1"/>
                </a:solidFill>
                <a:latin typeface="Inter"/>
              </a:rPr>
              <a:t>Pattern-matched commit messages: "migrated from X to Y", "switching from X to Y", "moving from X to Y"</a:t>
            </a:r>
          </a:p>
          <a:p>
            <a:pPr algn="l">
              <a:lnSpc>
                <a:spcPct val="155000"/>
              </a:lnSpc>
            </a:pPr>
            <a:r>
              <a:rPr sz="1400" b="1">
                <a:solidFill>
                  <a:srgbClr val="A78BFA"/>
                </a:solidFill>
                <a:latin typeface="Inter"/>
              </a:rPr>
              <a:t>▸ </a:t>
            </a:r>
            <a:r>
              <a:rPr sz="1400">
                <a:solidFill>
                  <a:srgbClr val="E4E8F1"/>
                </a:solidFill>
                <a:latin typeface="Inter"/>
              </a:rPr>
              <a:t>70-technology allowlist + minimum edge weight = 3 → 16 nodes, 11 high-confidence edges</a:t>
            </a:r>
          </a:p>
          <a:p>
            <a:pPr algn="l">
              <a:lnSpc>
                <a:spcPct val="155000"/>
              </a:lnSpc>
            </a:pPr>
            <a:r>
              <a:rPr sz="1400" b="1">
                <a:solidFill>
                  <a:srgbClr val="A78BFA"/>
                </a:solidFill>
                <a:latin typeface="Inter"/>
              </a:rPr>
              <a:t>▸ </a:t>
            </a:r>
            <a:r>
              <a:rPr sz="1400">
                <a:solidFill>
                  <a:srgbClr val="E4E8F1"/>
                </a:solidFill>
                <a:latin typeface="Inter"/>
              </a:rPr>
              <a:t>Top migration attractors: CircleCI (n=24), Jest (n=18), Go (n=12)</a:t>
            </a:r>
          </a:p>
          <a:p>
            <a:pPr algn="l">
              <a:lnSpc>
                <a:spcPct val="155000"/>
              </a:lnSpc>
            </a:pPr>
            <a:r>
              <a:rPr sz="1400" b="1">
                <a:solidFill>
                  <a:srgbClr val="A78BFA"/>
                </a:solidFill>
                <a:latin typeface="Inter"/>
              </a:rPr>
              <a:t>▸ </a:t>
            </a:r>
            <a:r>
              <a:rPr sz="1400">
                <a:solidFill>
                  <a:srgbClr val="E4E8F1"/>
                </a:solidFill>
                <a:latin typeface="Inter"/>
              </a:rPr>
              <a:t>Strongest sources: Mocha, Travis CI — replaced by modern CI/CD and test runners</a:t>
            </a:r>
          </a:p>
          <a:p>
            <a:pPr algn="l">
              <a:lnSpc>
                <a:spcPct val="155000"/>
              </a:lnSpc>
            </a:pPr>
            <a:r>
              <a:rPr sz="1400" b="1">
                <a:solidFill>
                  <a:srgbClr val="A78BFA"/>
                </a:solidFill>
                <a:latin typeface="Inter"/>
              </a:rPr>
              <a:t>▸ </a:t>
            </a:r>
            <a:r>
              <a:rPr sz="1400">
                <a:solidFill>
                  <a:srgbClr val="E4E8F1"/>
                </a:solidFill>
                <a:latin typeface="Inter"/>
              </a:rPr>
              <a:t>Edge coverage limitation: GH Archive commit messages are free-form. Phase-3 plan: extend to PR/issue text + CHANGELOG parsing, possibly NLP-based.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7680960" y="1691640"/>
            <a:ext cx="3840480" cy="4389120"/>
          </a:xfrm>
          <a:prstGeom prst="rect">
            <a:avLst/>
          </a:prstGeom>
          <a:solidFill>
            <a:srgbClr val="151B27"/>
          </a:solidFill>
          <a:ln w="12700">
            <a:solidFill>
              <a:srgbClr val="A78BFA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0" y="3686200"/>
            <a:ext cx="3840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8B95A8"/>
                </a:solidFill>
                <a:latin typeface="Inter"/>
              </a:rPr>
              <a:t>🖼  Image placeholder</a:t>
            </a:r>
          </a:p>
          <a:p>
            <a:pPr algn="ctr"/>
            <a:r>
              <a:rPr sz="1100">
                <a:solidFill>
                  <a:srgbClr val="5EEAD4"/>
                </a:solidFill>
                <a:latin typeface="JetBrains Mono"/>
              </a:rPr>
              <a:t>outputs/d3_network.png   (or outputs/d3_sankey.html)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B95A8"/>
                </a:solidFill>
                <a:latin typeface="Inter"/>
              </a:rPr>
              <a:t>GitHub Tech Trends · Midterm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8B95A8"/>
                </a:solidFill>
                <a:latin typeface="Inter"/>
              </a:rPr>
              <a:t>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73152" cy="4572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A78BFA"/>
                </a:solidFill>
                <a:latin typeface="Inter"/>
              </a:rPr>
              <a:t>Deliverable 4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58368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E4E8F1"/>
                </a:solidFill>
                <a:latin typeface="Inter"/>
              </a:rPr>
              <a:t>D4 — Developer Influence (PageRank)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325880"/>
            <a:ext cx="10972800" cy="13716"/>
          </a:xfrm>
          <a:prstGeom prst="rect">
            <a:avLst/>
          </a:prstGeom>
          <a:solidFill>
            <a:srgbClr val="1F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658368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A78BFA"/>
                </a:solidFill>
                <a:latin typeface="Inter"/>
              </a:rPr>
              <a:t>▸ </a:t>
            </a:r>
            <a:r>
              <a:rPr sz="1300">
                <a:solidFill>
                  <a:srgbClr val="E4E8F1"/>
                </a:solidFill>
                <a:latin typeface="Inter"/>
              </a:rPr>
              <a:t>25,000 developers · mean degree 7.7 · max degree 211</a:t>
            </a:r>
          </a:p>
          <a:p>
            <a:pPr algn="l">
              <a:lnSpc>
                <a:spcPct val="150000"/>
              </a:lnSpc>
            </a:pPr>
            <a:r>
              <a:rPr sz="1300" b="1">
                <a:solidFill>
                  <a:srgbClr val="A78BFA"/>
                </a:solidFill>
                <a:latin typeface="Inter"/>
              </a:rPr>
              <a:t>▸ </a:t>
            </a:r>
            <a:r>
              <a:rPr sz="1300">
                <a:solidFill>
                  <a:srgbClr val="E4E8F1"/>
                </a:solidFill>
                <a:latin typeface="Inter"/>
              </a:rPr>
              <a:t>9,625 isolated nodes (38.5%) — even after bot filtering, many developers contribute to a single project only</a:t>
            </a:r>
          </a:p>
          <a:p>
            <a:pPr algn="l">
              <a:lnSpc>
                <a:spcPct val="150000"/>
              </a:lnSpc>
            </a:pPr>
            <a:r>
              <a:rPr sz="1300" b="1">
                <a:solidFill>
                  <a:srgbClr val="A78BFA"/>
                </a:solidFill>
                <a:latin typeface="Inter"/>
              </a:rPr>
              <a:t>▸ </a:t>
            </a:r>
            <a:r>
              <a:rPr sz="1300">
                <a:solidFill>
                  <a:srgbClr val="E4E8F1"/>
                </a:solidFill>
                <a:latin typeface="Inter"/>
              </a:rPr>
              <a:t>PageRank (α = 0.85) weighted by shared repositories — identifies the connectors whose removal would most degrade reachability</a:t>
            </a:r>
          </a:p>
          <a:p>
            <a:pPr algn="l">
              <a:lnSpc>
                <a:spcPct val="150000"/>
              </a:lnSpc>
            </a:pPr>
            <a:r>
              <a:rPr sz="1300" b="1">
                <a:solidFill>
                  <a:srgbClr val="A78BFA"/>
                </a:solidFill>
                <a:latin typeface="Inter"/>
              </a:rPr>
              <a:t>▸ </a:t>
            </a:r>
            <a:r>
              <a:rPr sz="1300">
                <a:solidFill>
                  <a:srgbClr val="E4E8F1"/>
                </a:solidFill>
                <a:latin typeface="Inter"/>
              </a:rPr>
              <a:t>Betweenness centrality complements PageRank — finds bridge nodes between disjoint clusters</a:t>
            </a:r>
          </a:p>
          <a:p>
            <a:pPr algn="l">
              <a:lnSpc>
                <a:spcPct val="150000"/>
              </a:lnSpc>
            </a:pPr>
            <a:r>
              <a:rPr sz="1300" b="1">
                <a:solidFill>
                  <a:srgbClr val="A78BFA"/>
                </a:solidFill>
                <a:latin typeface="Inter"/>
              </a:rPr>
              <a:t>▸ </a:t>
            </a:r>
            <a:r>
              <a:rPr sz="1300">
                <a:solidFill>
                  <a:srgbClr val="E4E8F1"/>
                </a:solidFill>
                <a:latin typeface="Inter"/>
              </a:rPr>
              <a:t>Weak correlation between PageRank and commit count (r = 0.277) — high-commit bots have near-zero PageRank; well-connected cross-project contributors rank highly</a:t>
            </a:r>
          </a:p>
          <a:p>
            <a:pPr algn="l">
              <a:lnSpc>
                <a:spcPct val="150000"/>
              </a:lnSpc>
            </a:pPr>
            <a:r>
              <a:rPr sz="1300" b="1">
                <a:solidFill>
                  <a:srgbClr val="A78BFA"/>
                </a:solidFill>
                <a:latin typeface="Inter"/>
              </a:rPr>
              <a:t>▸ </a:t>
            </a:r>
            <a:r>
              <a:rPr sz="1300">
                <a:solidFill>
                  <a:srgbClr val="E4E8F1"/>
                </a:solidFill>
                <a:latin typeface="Inter"/>
              </a:rPr>
              <a:t>Privacy: emails irreversibly SHA-256 hashed at DataFrame creation; no raw email ever written</a:t>
            </a:r>
          </a:p>
        </p:txBody>
      </p:sp>
      <p:sp>
        <p:nvSpPr>
          <p:cNvPr id="8" name="Rectangle 7"/>
          <p:cNvSpPr/>
          <p:nvPr/>
        </p:nvSpPr>
        <p:spPr>
          <a:xfrm>
            <a:off x="7680960" y="1691640"/>
            <a:ext cx="3840480" cy="2194560"/>
          </a:xfrm>
          <a:prstGeom prst="rect">
            <a:avLst/>
          </a:prstGeom>
          <a:solidFill>
            <a:srgbClr val="151B27"/>
          </a:solidFill>
          <a:ln w="12700">
            <a:solidFill>
              <a:srgbClr val="A78BFA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0" y="2588920"/>
            <a:ext cx="3840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8B95A8"/>
                </a:solidFill>
                <a:latin typeface="Inter"/>
              </a:rPr>
              <a:t>🖼  Image placeholder</a:t>
            </a:r>
          </a:p>
          <a:p>
            <a:pPr algn="ctr"/>
            <a:r>
              <a:rPr sz="1100">
                <a:solidFill>
                  <a:srgbClr val="5EEAD4"/>
                </a:solidFill>
                <a:latin typeface="JetBrains Mono"/>
              </a:rPr>
              <a:t>outputs/d4_top20_pagerank.png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80960" y="4023360"/>
            <a:ext cx="3840480" cy="2194560"/>
          </a:xfrm>
          <a:prstGeom prst="rect">
            <a:avLst/>
          </a:prstGeom>
          <a:solidFill>
            <a:srgbClr val="151B27"/>
          </a:solidFill>
          <a:ln w="12700">
            <a:solidFill>
              <a:srgbClr val="A78BFA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0" y="4920640"/>
            <a:ext cx="3840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8B95A8"/>
                </a:solidFill>
                <a:latin typeface="Inter"/>
              </a:rPr>
              <a:t>🖼  Image placeholder</a:t>
            </a:r>
          </a:p>
          <a:p>
            <a:pPr algn="ctr"/>
            <a:r>
              <a:rPr sz="1100">
                <a:solidFill>
                  <a:srgbClr val="5EEAD4"/>
                </a:solidFill>
                <a:latin typeface="JetBrains Mono"/>
              </a:rPr>
              <a:t>outputs/d4_pagerank_vs_commits.png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B95A8"/>
                </a:solidFill>
                <a:latin typeface="Inter"/>
              </a:rPr>
              <a:t>GitHub Tech Trends · Midterm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8B95A8"/>
                </a:solidFill>
                <a:latin typeface="Inter"/>
              </a:rPr>
              <a:t>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73152" cy="4572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A78BFA"/>
                </a:solidFill>
                <a:latin typeface="Inter"/>
              </a:rPr>
              <a:t>Deliverable 5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58368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E4E8F1"/>
                </a:solidFill>
                <a:latin typeface="Inter"/>
              </a:rPr>
              <a:t>D5 — Developer Community Detection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325880"/>
            <a:ext cx="10972800" cy="13716"/>
          </a:xfrm>
          <a:prstGeom prst="rect">
            <a:avLst/>
          </a:prstGeom>
          <a:solidFill>
            <a:srgbClr val="1F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658368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A78BFA"/>
                </a:solidFill>
                <a:latin typeface="Inter"/>
              </a:rPr>
              <a:t>▸ </a:t>
            </a:r>
            <a:r>
              <a:rPr sz="1300">
                <a:solidFill>
                  <a:srgbClr val="E4E8F1"/>
                </a:solidFill>
                <a:latin typeface="Inter"/>
              </a:rPr>
              <a:t>Leiden algorithm yielded 10,255 communities from 25,000 developers</a:t>
            </a:r>
          </a:p>
          <a:p>
            <a:pPr algn="l">
              <a:lnSpc>
                <a:spcPct val="150000"/>
              </a:lnSpc>
            </a:pPr>
            <a:r>
              <a:rPr sz="1300" b="1">
                <a:solidFill>
                  <a:srgbClr val="A78BFA"/>
                </a:solidFill>
                <a:latin typeface="Inter"/>
              </a:rPr>
              <a:t>▸ </a:t>
            </a:r>
            <a:r>
              <a:rPr sz="1300">
                <a:solidFill>
                  <a:srgbClr val="E4E8F1"/>
                </a:solidFill>
                <a:latin typeface="Inter"/>
              </a:rPr>
              <a:t>Largest community: 1,679 members — dense web-ecosystem cluster (JavaScript / TypeScript repositories)</a:t>
            </a:r>
          </a:p>
          <a:p>
            <a:pPr algn="l">
              <a:lnSpc>
                <a:spcPct val="150000"/>
              </a:lnSpc>
            </a:pPr>
            <a:r>
              <a:rPr sz="1300" b="1">
                <a:solidFill>
                  <a:srgbClr val="A78BFA"/>
                </a:solidFill>
                <a:latin typeface="Inter"/>
              </a:rPr>
              <a:t>▸ </a:t>
            </a:r>
            <a:r>
              <a:rPr sz="1300">
                <a:solidFill>
                  <a:srgbClr val="E4E8F1"/>
                </a:solidFill>
                <a:latin typeface="Inter"/>
              </a:rPr>
              <a:t>Median community size: 1 member (singleton) — 93.9% of all communities</a:t>
            </a:r>
          </a:p>
          <a:p>
            <a:pPr algn="l">
              <a:lnSpc>
                <a:spcPct val="150000"/>
              </a:lnSpc>
            </a:pPr>
            <a:r>
              <a:rPr sz="1300" b="1">
                <a:solidFill>
                  <a:srgbClr val="A78BFA"/>
                </a:solidFill>
                <a:latin typeface="Inter"/>
              </a:rPr>
              <a:t>▸ </a:t>
            </a:r>
            <a:r>
              <a:rPr sz="1300">
                <a:solidFill>
                  <a:srgbClr val="E4E8F1"/>
                </a:solidFill>
                <a:latin typeface="Inter"/>
              </a:rPr>
              <a:t>Heavy-tailed distribution matches open-source collaboration theory: few large maintained projects, many small isolated efforts</a:t>
            </a:r>
          </a:p>
          <a:p>
            <a:pPr algn="l">
              <a:lnSpc>
                <a:spcPct val="150000"/>
              </a:lnSpc>
            </a:pPr>
            <a:r>
              <a:rPr sz="1300" b="1">
                <a:solidFill>
                  <a:srgbClr val="A78BFA"/>
                </a:solidFill>
                <a:latin typeface="Inter"/>
              </a:rPr>
              <a:t>▸ </a:t>
            </a:r>
            <a:r>
              <a:rPr sz="1300">
                <a:solidFill>
                  <a:srgbClr val="E4E8F1"/>
                </a:solidFill>
                <a:latin typeface="Inter"/>
              </a:rPr>
              <a:t>Top communities labelled by dominant GitHub organisations: fastify · conda-forge · learn-co-students · kubernetes · google · facebook</a:t>
            </a:r>
          </a:p>
          <a:p>
            <a:pPr algn="l">
              <a:lnSpc>
                <a:spcPct val="150000"/>
              </a:lnSpc>
            </a:pPr>
            <a:r>
              <a:rPr sz="1300" b="1">
                <a:solidFill>
                  <a:srgbClr val="A78BFA"/>
                </a:solidFill>
                <a:latin typeface="Inter"/>
              </a:rPr>
              <a:t>▸ </a:t>
            </a:r>
            <a:r>
              <a:rPr sz="1300">
                <a:solidFill>
                  <a:srgbClr val="E4E8F1"/>
                </a:solidFill>
                <a:latin typeface="Inter"/>
              </a:rPr>
              <a:t>Leiden chosen over Louvain to guarantee well-connectedness (no internally-disconnected partitions) and reproducibility (seed=42)</a:t>
            </a:r>
          </a:p>
        </p:txBody>
      </p:sp>
      <p:sp>
        <p:nvSpPr>
          <p:cNvPr id="8" name="Rectangle 7"/>
          <p:cNvSpPr/>
          <p:nvPr/>
        </p:nvSpPr>
        <p:spPr>
          <a:xfrm>
            <a:off x="7680960" y="1691640"/>
            <a:ext cx="3840480" cy="2194560"/>
          </a:xfrm>
          <a:prstGeom prst="rect">
            <a:avLst/>
          </a:prstGeom>
          <a:solidFill>
            <a:srgbClr val="151B27"/>
          </a:solidFill>
          <a:ln w="12700">
            <a:solidFill>
              <a:srgbClr val="A78BFA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0" y="2588920"/>
            <a:ext cx="3840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8B95A8"/>
                </a:solidFill>
                <a:latin typeface="Inter"/>
              </a:rPr>
              <a:t>🖼  Image placeholder</a:t>
            </a:r>
          </a:p>
          <a:p>
            <a:pPr algn="ctr"/>
            <a:r>
              <a:rPr sz="1100">
                <a:solidFill>
                  <a:srgbClr val="5EEAD4"/>
                </a:solidFill>
                <a:latin typeface="JetBrains Mono"/>
              </a:rPr>
              <a:t>outputs/d5_community_sizes.png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80960" y="4023360"/>
            <a:ext cx="3840480" cy="2194560"/>
          </a:xfrm>
          <a:prstGeom prst="rect">
            <a:avLst/>
          </a:prstGeom>
          <a:solidFill>
            <a:srgbClr val="151B27"/>
          </a:solidFill>
          <a:ln w="12700">
            <a:solidFill>
              <a:srgbClr val="A78BFA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0" y="4920640"/>
            <a:ext cx="3840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8B95A8"/>
                </a:solidFill>
                <a:latin typeface="Inter"/>
              </a:rPr>
              <a:t>🖼  Image placeholder</a:t>
            </a:r>
          </a:p>
          <a:p>
            <a:pPr algn="ctr"/>
            <a:r>
              <a:rPr sz="1100">
                <a:solidFill>
                  <a:srgbClr val="5EEAD4"/>
                </a:solidFill>
                <a:latin typeface="JetBrains Mono"/>
              </a:rPr>
              <a:t>outputs/d5_size_vs_influence.png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B95A8"/>
                </a:solidFill>
                <a:latin typeface="Inter"/>
              </a:rPr>
              <a:t>GitHub Tech Trends · Midterm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8B95A8"/>
                </a:solidFill>
                <a:latin typeface="Inter"/>
              </a:rPr>
              <a:t>15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73152" cy="4572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A78BFA"/>
                </a:solidFill>
                <a:latin typeface="Inter"/>
              </a:rPr>
              <a:t>Beyond the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58368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E4E8F1"/>
                </a:solidFill>
                <a:latin typeface="Inter"/>
              </a:rPr>
              <a:t>Interactive Web UI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325880"/>
            <a:ext cx="10972800" cy="13716"/>
          </a:xfrm>
          <a:prstGeom prst="rect">
            <a:avLst/>
          </a:prstGeom>
          <a:solidFill>
            <a:srgbClr val="1F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9848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A78BFA"/>
                </a:solidFill>
                <a:latin typeface="Inter"/>
              </a:rPr>
              <a:t>▸ </a:t>
            </a:r>
            <a:r>
              <a:rPr sz="1400">
                <a:solidFill>
                  <a:srgbClr val="E4E8F1"/>
                </a:solidFill>
                <a:latin typeface="Inter"/>
              </a:rPr>
              <a:t>React + Vite + Tailwind dashboard built on top of the Spark outputs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A78BFA"/>
                </a:solidFill>
                <a:latin typeface="Inter"/>
              </a:rPr>
              <a:t>▸ </a:t>
            </a:r>
            <a:r>
              <a:rPr sz="1400">
                <a:solidFill>
                  <a:srgbClr val="E4E8F1"/>
                </a:solidFill>
                <a:latin typeface="Inter"/>
              </a:rPr>
              <a:t>Spark runs once offline; UI reads slim JSON (~840 KB total) — no backend, no Spark round-trip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A78BFA"/>
                </a:solidFill>
                <a:latin typeface="Inter"/>
              </a:rPr>
              <a:t>▸ </a:t>
            </a:r>
            <a:r>
              <a:rPr sz="1400">
                <a:solidFill>
                  <a:srgbClr val="E4E8F1"/>
                </a:solidFill>
                <a:latin typeface="Inter"/>
              </a:rPr>
              <a:t>Client-side filters: language chips, year-range slider, log/linear, normalised growth index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A78BFA"/>
                </a:solidFill>
                <a:latin typeface="Inter"/>
              </a:rPr>
              <a:t>▸ </a:t>
            </a:r>
            <a:r>
              <a:rPr sz="1400">
                <a:solidFill>
                  <a:srgbClr val="E4E8F1"/>
                </a:solidFill>
                <a:latin typeface="Inter"/>
              </a:rPr>
              <a:t>Pre-computed time windows for the migration graph (instant switching, no recomputation)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A78BFA"/>
                </a:solidFill>
                <a:latin typeface="Inter"/>
              </a:rPr>
              <a:t>▸ </a:t>
            </a:r>
            <a:r>
              <a:rPr sz="1400">
                <a:solidFill>
                  <a:srgbClr val="E4E8F1"/>
                </a:solidFill>
                <a:latin typeface="Inter"/>
              </a:rPr>
              <a:t>Dark-mode design, 6 pages — Overview + D1-D5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4023360"/>
            <a:ext cx="3566160" cy="2286000"/>
          </a:xfrm>
          <a:prstGeom prst="rect">
            <a:avLst/>
          </a:prstGeom>
          <a:solidFill>
            <a:srgbClr val="151B27"/>
          </a:solidFill>
          <a:ln w="12700">
            <a:solidFill>
              <a:srgbClr val="A78BFA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4966360"/>
            <a:ext cx="3566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8B95A8"/>
                </a:solidFill>
                <a:latin typeface="Inter"/>
              </a:rPr>
              <a:t>🖼  Image placeholder</a:t>
            </a:r>
          </a:p>
          <a:p>
            <a:pPr algn="ctr"/>
            <a:r>
              <a:rPr sz="1100">
                <a:solidFill>
                  <a:srgbClr val="5EEAD4"/>
                </a:solidFill>
                <a:latin typeface="JetBrains Mono"/>
              </a:rPr>
              <a:t>screenshots/ui_overview.png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26280" y="4023360"/>
            <a:ext cx="3566160" cy="2286000"/>
          </a:xfrm>
          <a:prstGeom prst="rect">
            <a:avLst/>
          </a:prstGeom>
          <a:solidFill>
            <a:srgbClr val="151B27"/>
          </a:solidFill>
          <a:ln w="12700">
            <a:solidFill>
              <a:srgbClr val="A78BFA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4966360"/>
            <a:ext cx="3566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8B95A8"/>
                </a:solidFill>
                <a:latin typeface="Inter"/>
              </a:rPr>
              <a:t>🖼  Image placeholder</a:t>
            </a:r>
          </a:p>
          <a:p>
            <a:pPr algn="ctr"/>
            <a:r>
              <a:rPr sz="1100">
                <a:solidFill>
                  <a:srgbClr val="5EEAD4"/>
                </a:solidFill>
                <a:latin typeface="JetBrains Mono"/>
              </a:rPr>
              <a:t>screenshots/ui_d1_trends.png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75320" y="4023360"/>
            <a:ext cx="3291840" cy="2286000"/>
          </a:xfrm>
          <a:prstGeom prst="rect">
            <a:avLst/>
          </a:prstGeom>
          <a:solidFill>
            <a:srgbClr val="151B27"/>
          </a:solidFill>
          <a:ln w="12700">
            <a:solidFill>
              <a:srgbClr val="A78BFA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496636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8B95A8"/>
                </a:solidFill>
                <a:latin typeface="Inter"/>
              </a:rPr>
              <a:t>🖼  Image placeholder</a:t>
            </a:r>
          </a:p>
          <a:p>
            <a:pPr algn="ctr"/>
            <a:r>
              <a:rPr sz="1100">
                <a:solidFill>
                  <a:srgbClr val="5EEAD4"/>
                </a:solidFill>
                <a:latin typeface="JetBrains Mono"/>
              </a:rPr>
              <a:t>screenshots/ui_d3_sankey.png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B95A8"/>
                </a:solidFill>
                <a:latin typeface="Inter"/>
              </a:rPr>
              <a:t>GitHub Tech Trends · Midterm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8B95A8"/>
                </a:solidFill>
                <a:latin typeface="Inter"/>
              </a:rPr>
              <a:t>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73152" cy="4572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A78BFA"/>
                </a:solidFill>
                <a:latin typeface="Inter"/>
              </a:rP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58368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E4E8F1"/>
                </a:solidFill>
                <a:latin typeface="Inter"/>
              </a:rPr>
              <a:t>Conclusion &amp; Remaining 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325880"/>
            <a:ext cx="10972800" cy="13716"/>
          </a:xfrm>
          <a:prstGeom prst="rect">
            <a:avLst/>
          </a:prstGeom>
          <a:solidFill>
            <a:srgbClr val="1F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459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34D399"/>
                </a:solidFill>
                <a:latin typeface="Inter"/>
              </a:rPr>
              <a:t>What works today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11680"/>
            <a:ext cx="1069848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34D399"/>
                </a:solidFill>
                <a:latin typeface="Inter"/>
              </a:rPr>
              <a:t>▸ </a:t>
            </a:r>
            <a:r>
              <a:rPr sz="1300">
                <a:solidFill>
                  <a:srgbClr val="E4E8F1"/>
                </a:solidFill>
                <a:latin typeface="Inter"/>
              </a:rPr>
              <a:t>End-to-end pipeline runs successfully on Dataproc (us-east1)</a:t>
            </a:r>
          </a:p>
          <a:p>
            <a:pPr algn="l">
              <a:lnSpc>
                <a:spcPct val="150000"/>
              </a:lnSpc>
            </a:pPr>
            <a:r>
              <a:rPr sz="1300" b="1">
                <a:solidFill>
                  <a:srgbClr val="34D399"/>
                </a:solidFill>
                <a:latin typeface="Inter"/>
              </a:rPr>
              <a:t>▸ </a:t>
            </a:r>
            <a:r>
              <a:rPr sz="1300">
                <a:solidFill>
                  <a:srgbClr val="E4E8F1"/>
                </a:solidFill>
                <a:latin typeface="Inter"/>
              </a:rPr>
              <a:t>All five deliverables produce quantitative outputs</a:t>
            </a:r>
          </a:p>
          <a:p>
            <a:pPr algn="l">
              <a:lnSpc>
                <a:spcPct val="150000"/>
              </a:lnSpc>
            </a:pPr>
            <a:r>
              <a:rPr sz="1300" b="1">
                <a:solidFill>
                  <a:srgbClr val="34D399"/>
                </a:solidFill>
                <a:latin typeface="Inter"/>
              </a:rPr>
              <a:t>▸ </a:t>
            </a:r>
            <a:r>
              <a:rPr sz="1300">
                <a:solidFill>
                  <a:srgbClr val="E4E8F1"/>
                </a:solidFill>
                <a:latin typeface="Inter"/>
              </a:rPr>
              <a:t>Main findings: TypeScript / Rust lead growth; CircleCI + Jest are migration attractors; developer collaboration follows a heavy-tailed community structure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840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A78BFA"/>
                </a:solidFill>
                <a:latin typeface="Inter"/>
              </a:rPr>
              <a:t>Phase-3 plan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206240"/>
            <a:ext cx="1069848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A78BFA"/>
                </a:solidFill>
                <a:latin typeface="Inter"/>
              </a:rPr>
              <a:t>▸ </a:t>
            </a:r>
            <a:r>
              <a:rPr sz="1300">
                <a:solidFill>
                  <a:srgbClr val="E4E8F1"/>
                </a:solidFill>
                <a:latin typeface="Inter"/>
              </a:rPr>
              <a:t>Enrich D3 migration graph with PR / issue text and CHANGELOG parsing</a:t>
            </a:r>
          </a:p>
          <a:p>
            <a:pPr algn="l">
              <a:lnSpc>
                <a:spcPct val="150000"/>
              </a:lnSpc>
            </a:pPr>
            <a:r>
              <a:rPr sz="1300" b="1">
                <a:solidFill>
                  <a:srgbClr val="A78BFA"/>
                </a:solidFill>
                <a:latin typeface="Inter"/>
              </a:rPr>
              <a:t>▸ </a:t>
            </a:r>
            <a:r>
              <a:rPr sz="1300">
                <a:solidFill>
                  <a:srgbClr val="E4E8F1"/>
                </a:solidFill>
                <a:latin typeface="Inter"/>
              </a:rPr>
              <a:t>Add Holt-Winters confidence intervals to the D2 notebook</a:t>
            </a:r>
          </a:p>
          <a:p>
            <a:pPr algn="l">
              <a:lnSpc>
                <a:spcPct val="150000"/>
              </a:lnSpc>
            </a:pPr>
            <a:r>
              <a:rPr sz="1300" b="1">
                <a:solidFill>
                  <a:srgbClr val="A78BFA"/>
                </a:solidFill>
                <a:latin typeface="Inter"/>
              </a:rPr>
              <a:t>▸ </a:t>
            </a:r>
            <a:r>
              <a:rPr sz="1300">
                <a:solidFill>
                  <a:srgbClr val="E4E8F1"/>
                </a:solidFill>
                <a:latin typeface="Inter"/>
              </a:rPr>
              <a:t>Cross-join D4 developer PageRank with D1 language clusters</a:t>
            </a:r>
          </a:p>
          <a:p>
            <a:pPr algn="l">
              <a:lnSpc>
                <a:spcPct val="150000"/>
              </a:lnSpc>
            </a:pPr>
            <a:r>
              <a:rPr sz="1300" b="1">
                <a:solidFill>
                  <a:srgbClr val="A78BFA"/>
                </a:solidFill>
                <a:latin typeface="Inter"/>
              </a:rPr>
              <a:t>▸ </a:t>
            </a:r>
            <a:r>
              <a:rPr sz="1300">
                <a:solidFill>
                  <a:srgbClr val="E4E8F1"/>
                </a:solidFill>
                <a:latin typeface="Inter"/>
              </a:rPr>
              <a:t>Evaluate alignment of D5 communities with D1 language clusters</a:t>
            </a:r>
          </a:p>
          <a:p>
            <a:pPr algn="l">
              <a:lnSpc>
                <a:spcPct val="150000"/>
              </a:lnSpc>
            </a:pPr>
            <a:r>
              <a:rPr sz="1300" b="1">
                <a:solidFill>
                  <a:srgbClr val="A78BFA"/>
                </a:solidFill>
                <a:latin typeface="Inter"/>
              </a:rPr>
              <a:t>▸ </a:t>
            </a:r>
            <a:r>
              <a:rPr sz="1300">
                <a:solidFill>
                  <a:srgbClr val="E4E8F1"/>
                </a:solidFill>
                <a:latin typeface="Inter"/>
              </a:rPr>
              <a:t>Polish the interactive Web UI and wire it to the live Spark outputs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B95A8"/>
                </a:solidFill>
                <a:latin typeface="Inter"/>
              </a:rPr>
              <a:t>GitHub Tech Trends · Midterm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8B95A8"/>
                </a:solidFill>
                <a:latin typeface="Inter"/>
              </a:rPr>
              <a:t>17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12191695" cy="36576"/>
          </a:xfrm>
          <a:prstGeom prst="rect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3774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400" b="1" i="0">
                <a:solidFill>
                  <a:srgbClr val="E4E8F1"/>
                </a:solidFill>
                <a:latin typeface="Inter"/>
              </a:rPr>
              <a:t>Thank you.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4747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5EEAD4"/>
                </a:solidFill>
                <a:latin typeface="Inter"/>
              </a:rPr>
              <a:t>Questions, comments, suggestions welcome.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5720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A78BFA"/>
                </a:solidFill>
                <a:latin typeface="JetBrains Mono"/>
              </a:rPr>
              <a:t>github.com/selin-bardakci/BigData-Github_Analysis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983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8B95A8"/>
                </a:solidFill>
                <a:latin typeface="Inter"/>
              </a:rPr>
              <a:t>Selin Bardakcı · Bengisu Duru Göksu · Zeynep Yiğit · Gebze Technical University · CSE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